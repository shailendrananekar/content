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2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0936" cy="3749039"/>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566160"/>
            <a:ext cx="11430000" cy="4572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02920"/>
            <a:ext cx="10515600" cy="1005840"/>
          </a:xfrm>
          <a:prstGeom prst="rect">
            <a:avLst/>
          </a:prstGeom>
          <a:noFill/>
        </p:spPr>
        <p:txBody>
          <a:bodyPr wrap="square">
            <a:spAutoFit/>
          </a:bodyPr>
          <a:lstStyle/>
          <a:p>
            <a:pPr algn="l"/>
            <a:r>
              <a:rPr sz="5400" b="1" i="0">
                <a:solidFill>
                  <a:srgbClr val="FFFFFF"/>
                </a:solidFill>
              </a:rPr>
              <a:t>Jenkins Pipeline</a:t>
            </a:r>
          </a:p>
        </p:txBody>
      </p:sp>
      <p:sp>
        <p:nvSpPr>
          <p:cNvPr id="6" name="TextBox 5"/>
          <p:cNvSpPr txBox="1"/>
          <p:nvPr/>
        </p:nvSpPr>
        <p:spPr>
          <a:xfrm>
            <a:off x="685800" y="1417320"/>
            <a:ext cx="10515600" cy="1005840"/>
          </a:xfrm>
          <a:prstGeom prst="rect">
            <a:avLst/>
          </a:prstGeom>
          <a:noFill/>
        </p:spPr>
        <p:txBody>
          <a:bodyPr wrap="square">
            <a:spAutoFit/>
          </a:bodyPr>
          <a:lstStyle/>
          <a:p>
            <a:pPr algn="l"/>
            <a:r>
              <a:rPr sz="5400" b="1" i="0">
                <a:solidFill>
                  <a:srgbClr val="00C8E0"/>
                </a:solidFill>
              </a:rPr>
              <a:t>Job Locking Mechanism</a:t>
            </a:r>
          </a:p>
        </p:txBody>
      </p:sp>
      <p:sp>
        <p:nvSpPr>
          <p:cNvPr id="7" name="TextBox 6"/>
          <p:cNvSpPr txBox="1"/>
          <p:nvPr/>
        </p:nvSpPr>
        <p:spPr>
          <a:xfrm>
            <a:off x="685800" y="2514600"/>
            <a:ext cx="10515600" cy="548640"/>
          </a:xfrm>
          <a:prstGeom prst="rect">
            <a:avLst/>
          </a:prstGeom>
          <a:noFill/>
        </p:spPr>
        <p:txBody>
          <a:bodyPr wrap="square">
            <a:spAutoFit/>
          </a:bodyPr>
          <a:lstStyle/>
          <a:p>
            <a:pPr algn="l"/>
            <a:r>
              <a:rPr sz="1800" b="0" i="0">
                <a:solidFill>
                  <a:srgbClr val="B0C4DE"/>
                </a:solidFill>
              </a:rPr>
              <a:t>Parallel Execution  ·  Fixture Synchronisation  ·  Collision Prevention</a:t>
            </a:r>
          </a:p>
        </p:txBody>
      </p:sp>
      <p:sp>
        <p:nvSpPr>
          <p:cNvPr id="8" name="TextBox 7"/>
          <p:cNvSpPr txBox="1"/>
          <p:nvPr/>
        </p:nvSpPr>
        <p:spPr>
          <a:xfrm>
            <a:off x="685800" y="3840480"/>
            <a:ext cx="10058400" cy="502920"/>
          </a:xfrm>
          <a:prstGeom prst="rect">
            <a:avLst/>
          </a:prstGeom>
          <a:noFill/>
        </p:spPr>
        <p:txBody>
          <a:bodyPr wrap="square">
            <a:spAutoFit/>
          </a:bodyPr>
          <a:lstStyle/>
          <a:p>
            <a:pPr algn="l"/>
            <a:r>
              <a:rPr sz="1400" b="0" i="0">
                <a:solidFill>
                  <a:srgbClr val="B0C4DE"/>
                </a:solidFill>
              </a:rPr>
              <a:t>How 11 branch jobs run in parallel and the fixture job safely serialises at the end</a:t>
            </a:r>
          </a:p>
        </p:txBody>
      </p:sp>
      <p:sp>
        <p:nvSpPr>
          <p:cNvPr id="9" name="Rectangle 8"/>
          <p:cNvSpPr/>
          <p:nvPr/>
        </p:nvSpPr>
        <p:spPr>
          <a:xfrm>
            <a:off x="685800" y="5029200"/>
            <a:ext cx="3200400" cy="45720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047488"/>
            <a:ext cx="3200400" cy="411480"/>
          </a:xfrm>
          <a:prstGeom prst="rect">
            <a:avLst/>
          </a:prstGeom>
          <a:noFill/>
        </p:spPr>
        <p:txBody>
          <a:bodyPr wrap="square">
            <a:spAutoFit/>
          </a:bodyPr>
          <a:lstStyle/>
          <a:p>
            <a:pPr algn="ctr"/>
            <a:r>
              <a:rPr sz="1200" b="1" i="0">
                <a:solidFill>
                  <a:srgbClr val="FFFFFF"/>
                </a:solidFill>
              </a:rPr>
              <a:t>  POD9 DEV TEAM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428"/>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94360"/>
          </a:xfrm>
          <a:prstGeom prst="rect">
            <a:avLst/>
          </a:prstGeom>
          <a:noFill/>
        </p:spPr>
        <p:txBody>
          <a:bodyPr wrap="square">
            <a:spAutoFit/>
          </a:bodyPr>
          <a:lstStyle/>
          <a:p>
            <a:pPr algn="l"/>
            <a:r>
              <a:rPr sz="3200" b="1" i="0">
                <a:solidFill>
                  <a:srgbClr val="FFFFFF"/>
                </a:solidFill>
              </a:rPr>
              <a:t>Architecture Overview</a:t>
            </a:r>
          </a:p>
        </p:txBody>
      </p:sp>
      <p:sp>
        <p:nvSpPr>
          <p:cNvPr id="4" name="TextBox 3"/>
          <p:cNvSpPr txBox="1"/>
          <p:nvPr/>
        </p:nvSpPr>
        <p:spPr>
          <a:xfrm>
            <a:off x="457200" y="749808"/>
            <a:ext cx="10972800" cy="365760"/>
          </a:xfrm>
          <a:prstGeom prst="rect">
            <a:avLst/>
          </a:prstGeom>
          <a:noFill/>
        </p:spPr>
        <p:txBody>
          <a:bodyPr wrap="square">
            <a:spAutoFit/>
          </a:bodyPr>
          <a:lstStyle/>
          <a:p>
            <a:pPr algn="l"/>
            <a:r>
              <a:rPr sz="1400" b="0" i="0">
                <a:solidFill>
                  <a:srgbClr val="B0C4DE"/>
                </a:solidFill>
              </a:rPr>
              <a:t>All 11 branch jobs execute in parallel; the fixture job runs once — after every job finishes</a:t>
            </a:r>
          </a:p>
        </p:txBody>
      </p:sp>
      <p:sp>
        <p:nvSpPr>
          <p:cNvPr id="5" name="Rectangle 4"/>
          <p:cNvSpPr/>
          <p:nvPr/>
        </p:nvSpPr>
        <p:spPr>
          <a:xfrm>
            <a:off x="320040" y="1325880"/>
            <a:ext cx="11521440" cy="201168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325880"/>
            <a:ext cx="82296" cy="201168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9144000" cy="365760"/>
          </a:xfrm>
          <a:prstGeom prst="rect">
            <a:avLst/>
          </a:prstGeom>
          <a:noFill/>
        </p:spPr>
        <p:txBody>
          <a:bodyPr wrap="square">
            <a:spAutoFit/>
          </a:bodyPr>
          <a:lstStyle/>
          <a:p>
            <a:pPr algn="l"/>
            <a:r>
              <a:rPr sz="1100" b="1" i="0">
                <a:solidFill>
                  <a:srgbClr val="00C8E0"/>
                </a:solidFill>
              </a:rPr>
              <a:t>PARALLEL EXECUTION  (all 11 jobs run simultaneously)</a:t>
            </a:r>
          </a:p>
        </p:txBody>
      </p:sp>
      <p:sp>
        <p:nvSpPr>
          <p:cNvPr id="8" name="Rectangle 7"/>
          <p:cNvSpPr/>
          <p:nvPr/>
        </p:nvSpPr>
        <p:spPr>
          <a:xfrm>
            <a:off x="438912"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947672"/>
            <a:ext cx="941832" cy="347472"/>
          </a:xfrm>
          <a:prstGeom prst="rect">
            <a:avLst/>
          </a:prstGeom>
          <a:noFill/>
        </p:spPr>
        <p:txBody>
          <a:bodyPr wrap="square">
            <a:spAutoFit/>
          </a:bodyPr>
          <a:lstStyle/>
          <a:p>
            <a:pPr algn="ctr"/>
            <a:r>
              <a:rPr sz="1100" b="1" i="0">
                <a:solidFill>
                  <a:srgbClr val="FFFFFF"/>
                </a:solidFill>
              </a:rPr>
              <a:t>Job 1</a:t>
            </a:r>
          </a:p>
        </p:txBody>
      </p:sp>
      <p:sp>
        <p:nvSpPr>
          <p:cNvPr id="10" name="Rectangle 9"/>
          <p:cNvSpPr/>
          <p:nvPr/>
        </p:nvSpPr>
        <p:spPr>
          <a:xfrm>
            <a:off x="1472184"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72184" y="1947672"/>
            <a:ext cx="941832" cy="347472"/>
          </a:xfrm>
          <a:prstGeom prst="rect">
            <a:avLst/>
          </a:prstGeom>
          <a:noFill/>
        </p:spPr>
        <p:txBody>
          <a:bodyPr wrap="square">
            <a:spAutoFit/>
          </a:bodyPr>
          <a:lstStyle/>
          <a:p>
            <a:pPr algn="ctr"/>
            <a:r>
              <a:rPr sz="1100" b="1" i="0">
                <a:solidFill>
                  <a:srgbClr val="FFFFFF"/>
                </a:solidFill>
              </a:rPr>
              <a:t>Job 2</a:t>
            </a:r>
          </a:p>
        </p:txBody>
      </p:sp>
      <p:sp>
        <p:nvSpPr>
          <p:cNvPr id="12" name="Rectangle 11"/>
          <p:cNvSpPr/>
          <p:nvPr/>
        </p:nvSpPr>
        <p:spPr>
          <a:xfrm>
            <a:off x="2505456"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05456" y="1947672"/>
            <a:ext cx="941832" cy="347472"/>
          </a:xfrm>
          <a:prstGeom prst="rect">
            <a:avLst/>
          </a:prstGeom>
          <a:noFill/>
        </p:spPr>
        <p:txBody>
          <a:bodyPr wrap="square">
            <a:spAutoFit/>
          </a:bodyPr>
          <a:lstStyle/>
          <a:p>
            <a:pPr algn="ctr"/>
            <a:r>
              <a:rPr sz="1100" b="1" i="0">
                <a:solidFill>
                  <a:srgbClr val="FFFFFF"/>
                </a:solidFill>
              </a:rPr>
              <a:t>Job 3</a:t>
            </a:r>
          </a:p>
        </p:txBody>
      </p:sp>
      <p:sp>
        <p:nvSpPr>
          <p:cNvPr id="14" name="Rectangle 13"/>
          <p:cNvSpPr/>
          <p:nvPr/>
        </p:nvSpPr>
        <p:spPr>
          <a:xfrm>
            <a:off x="3538727"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7" y="1947672"/>
            <a:ext cx="941832" cy="347472"/>
          </a:xfrm>
          <a:prstGeom prst="rect">
            <a:avLst/>
          </a:prstGeom>
          <a:noFill/>
        </p:spPr>
        <p:txBody>
          <a:bodyPr wrap="square">
            <a:spAutoFit/>
          </a:bodyPr>
          <a:lstStyle/>
          <a:p>
            <a:pPr algn="ctr"/>
            <a:r>
              <a:rPr sz="1100" b="1" i="0">
                <a:solidFill>
                  <a:srgbClr val="FFFFFF"/>
                </a:solidFill>
              </a:rPr>
              <a:t>Job 4</a:t>
            </a:r>
          </a:p>
        </p:txBody>
      </p:sp>
      <p:sp>
        <p:nvSpPr>
          <p:cNvPr id="16" name="Rectangle 15"/>
          <p:cNvSpPr/>
          <p:nvPr/>
        </p:nvSpPr>
        <p:spPr>
          <a:xfrm>
            <a:off x="4572000"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1947672"/>
            <a:ext cx="941832" cy="347472"/>
          </a:xfrm>
          <a:prstGeom prst="rect">
            <a:avLst/>
          </a:prstGeom>
          <a:noFill/>
        </p:spPr>
        <p:txBody>
          <a:bodyPr wrap="square">
            <a:spAutoFit/>
          </a:bodyPr>
          <a:lstStyle/>
          <a:p>
            <a:pPr algn="ctr"/>
            <a:r>
              <a:rPr sz="1100" b="1" i="0">
                <a:solidFill>
                  <a:srgbClr val="FFFFFF"/>
                </a:solidFill>
              </a:rPr>
              <a:t>Job 5</a:t>
            </a:r>
          </a:p>
        </p:txBody>
      </p:sp>
      <p:sp>
        <p:nvSpPr>
          <p:cNvPr id="18" name="Rectangle 17"/>
          <p:cNvSpPr/>
          <p:nvPr/>
        </p:nvSpPr>
        <p:spPr>
          <a:xfrm>
            <a:off x="5605271"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05271" y="1947672"/>
            <a:ext cx="941832" cy="347472"/>
          </a:xfrm>
          <a:prstGeom prst="rect">
            <a:avLst/>
          </a:prstGeom>
          <a:noFill/>
        </p:spPr>
        <p:txBody>
          <a:bodyPr wrap="square">
            <a:spAutoFit/>
          </a:bodyPr>
          <a:lstStyle/>
          <a:p>
            <a:pPr algn="ctr"/>
            <a:r>
              <a:rPr sz="1100" b="1" i="0">
                <a:solidFill>
                  <a:srgbClr val="FFFFFF"/>
                </a:solidFill>
              </a:rPr>
              <a:t>Job 6</a:t>
            </a:r>
          </a:p>
        </p:txBody>
      </p:sp>
      <p:sp>
        <p:nvSpPr>
          <p:cNvPr id="20" name="Rectangle 19"/>
          <p:cNvSpPr/>
          <p:nvPr/>
        </p:nvSpPr>
        <p:spPr>
          <a:xfrm>
            <a:off x="6638544"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38544" y="1947672"/>
            <a:ext cx="941832" cy="347472"/>
          </a:xfrm>
          <a:prstGeom prst="rect">
            <a:avLst/>
          </a:prstGeom>
          <a:noFill/>
        </p:spPr>
        <p:txBody>
          <a:bodyPr wrap="square">
            <a:spAutoFit/>
          </a:bodyPr>
          <a:lstStyle/>
          <a:p>
            <a:pPr algn="ctr"/>
            <a:r>
              <a:rPr sz="1100" b="1" i="0">
                <a:solidFill>
                  <a:srgbClr val="FFFFFF"/>
                </a:solidFill>
              </a:rPr>
              <a:t>Job 7</a:t>
            </a:r>
          </a:p>
        </p:txBody>
      </p:sp>
      <p:sp>
        <p:nvSpPr>
          <p:cNvPr id="22" name="Rectangle 21"/>
          <p:cNvSpPr/>
          <p:nvPr/>
        </p:nvSpPr>
        <p:spPr>
          <a:xfrm>
            <a:off x="7671815"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71815" y="1947672"/>
            <a:ext cx="941832" cy="347472"/>
          </a:xfrm>
          <a:prstGeom prst="rect">
            <a:avLst/>
          </a:prstGeom>
          <a:noFill/>
        </p:spPr>
        <p:txBody>
          <a:bodyPr wrap="square">
            <a:spAutoFit/>
          </a:bodyPr>
          <a:lstStyle/>
          <a:p>
            <a:pPr algn="ctr"/>
            <a:r>
              <a:rPr sz="1100" b="1" i="0">
                <a:solidFill>
                  <a:srgbClr val="FFFFFF"/>
                </a:solidFill>
              </a:rPr>
              <a:t>Job 8</a:t>
            </a:r>
          </a:p>
        </p:txBody>
      </p:sp>
      <p:sp>
        <p:nvSpPr>
          <p:cNvPr id="24" name="Rectangle 23"/>
          <p:cNvSpPr/>
          <p:nvPr/>
        </p:nvSpPr>
        <p:spPr>
          <a:xfrm>
            <a:off x="8705088"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05088" y="1947672"/>
            <a:ext cx="941832" cy="347472"/>
          </a:xfrm>
          <a:prstGeom prst="rect">
            <a:avLst/>
          </a:prstGeom>
          <a:noFill/>
        </p:spPr>
        <p:txBody>
          <a:bodyPr wrap="square">
            <a:spAutoFit/>
          </a:bodyPr>
          <a:lstStyle/>
          <a:p>
            <a:pPr algn="ctr"/>
            <a:r>
              <a:rPr sz="1100" b="1" i="0">
                <a:solidFill>
                  <a:srgbClr val="FFFFFF"/>
                </a:solidFill>
              </a:rPr>
              <a:t>Job 9</a:t>
            </a:r>
          </a:p>
        </p:txBody>
      </p:sp>
      <p:sp>
        <p:nvSpPr>
          <p:cNvPr id="26" name="Rectangle 25"/>
          <p:cNvSpPr/>
          <p:nvPr/>
        </p:nvSpPr>
        <p:spPr>
          <a:xfrm>
            <a:off x="9738359"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38359" y="1947672"/>
            <a:ext cx="941832" cy="347472"/>
          </a:xfrm>
          <a:prstGeom prst="rect">
            <a:avLst/>
          </a:prstGeom>
          <a:noFill/>
        </p:spPr>
        <p:txBody>
          <a:bodyPr wrap="square">
            <a:spAutoFit/>
          </a:bodyPr>
          <a:lstStyle/>
          <a:p>
            <a:pPr algn="ctr"/>
            <a:r>
              <a:rPr sz="1100" b="1" i="0">
                <a:solidFill>
                  <a:srgbClr val="FFFFFF"/>
                </a:solidFill>
              </a:rPr>
              <a:t>Job 10</a:t>
            </a:r>
          </a:p>
        </p:txBody>
      </p:sp>
      <p:sp>
        <p:nvSpPr>
          <p:cNvPr id="28" name="Rectangle 27"/>
          <p:cNvSpPr/>
          <p:nvPr/>
        </p:nvSpPr>
        <p:spPr>
          <a:xfrm>
            <a:off x="10771632" y="1874519"/>
            <a:ext cx="941832" cy="50292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71632" y="1947672"/>
            <a:ext cx="941832" cy="347472"/>
          </a:xfrm>
          <a:prstGeom prst="rect">
            <a:avLst/>
          </a:prstGeom>
          <a:noFill/>
        </p:spPr>
        <p:txBody>
          <a:bodyPr wrap="square">
            <a:spAutoFit/>
          </a:bodyPr>
          <a:lstStyle/>
          <a:p>
            <a:pPr algn="ctr"/>
            <a:r>
              <a:rPr sz="1100" b="1" i="0">
                <a:solidFill>
                  <a:srgbClr val="FFFFFF"/>
                </a:solidFill>
              </a:rPr>
              <a:t>Job 11</a:t>
            </a:r>
          </a:p>
        </p:txBody>
      </p:sp>
      <p:sp>
        <p:nvSpPr>
          <p:cNvPr id="30" name="Rectangle 29"/>
          <p:cNvSpPr/>
          <p:nvPr/>
        </p:nvSpPr>
        <p:spPr>
          <a:xfrm>
            <a:off x="320040" y="3520440"/>
            <a:ext cx="11521440" cy="54864"/>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429000"/>
            <a:ext cx="10972800" cy="320040"/>
          </a:xfrm>
          <a:prstGeom prst="rect">
            <a:avLst/>
          </a:prstGeom>
          <a:noFill/>
        </p:spPr>
        <p:txBody>
          <a:bodyPr wrap="square">
            <a:spAutoFit/>
          </a:bodyPr>
          <a:lstStyle/>
          <a:p>
            <a:pPr algn="l"/>
            <a:r>
              <a:rPr sz="1000" b="1" i="0">
                <a:solidFill>
                  <a:srgbClr val="FF9530"/>
                </a:solidFill>
              </a:rPr>
              <a:t>🔒  LOCK BARRIER  —  fixture cannot start until ALL 11 jobs complete; jobs cannot start while fixture is running</a:t>
            </a:r>
          </a:p>
        </p:txBody>
      </p:sp>
      <p:sp>
        <p:nvSpPr>
          <p:cNvPr id="32" name="Rectangle 31"/>
          <p:cNvSpPr/>
          <p:nvPr/>
        </p:nvSpPr>
        <p:spPr>
          <a:xfrm>
            <a:off x="320040" y="3749039"/>
            <a:ext cx="11521440" cy="1005840"/>
          </a:xfrm>
          <a:prstGeom prst="rect">
            <a:avLst/>
          </a:prstGeom>
          <a:solidFill>
            <a:srgbClr val="06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0040" y="3749039"/>
            <a:ext cx="82296" cy="100584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3794760"/>
            <a:ext cx="9144000" cy="365760"/>
          </a:xfrm>
          <a:prstGeom prst="rect">
            <a:avLst/>
          </a:prstGeom>
          <a:noFill/>
        </p:spPr>
        <p:txBody>
          <a:bodyPr wrap="square">
            <a:spAutoFit/>
          </a:bodyPr>
          <a:lstStyle/>
          <a:p>
            <a:pPr algn="l"/>
            <a:r>
              <a:rPr sz="1100" b="1" i="0">
                <a:solidFill>
                  <a:srgbClr val="06D68A"/>
                </a:solidFill>
              </a:rPr>
              <a:t>FIXTURE JOB  —  runs once, after all 11 jobs have completed</a:t>
            </a:r>
          </a:p>
        </p:txBody>
      </p:sp>
      <p:sp>
        <p:nvSpPr>
          <p:cNvPr id="35" name="Rectangle 34"/>
          <p:cNvSpPr/>
          <p:nvPr/>
        </p:nvSpPr>
        <p:spPr>
          <a:xfrm>
            <a:off x="2743200" y="4206240"/>
            <a:ext cx="3200400" cy="41148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0" y="4224528"/>
            <a:ext cx="3200400" cy="365760"/>
          </a:xfrm>
          <a:prstGeom prst="rect">
            <a:avLst/>
          </a:prstGeom>
          <a:noFill/>
        </p:spPr>
        <p:txBody>
          <a:bodyPr wrap="square">
            <a:spAutoFit/>
          </a:bodyPr>
          <a:lstStyle/>
          <a:p>
            <a:pPr algn="ctr"/>
            <a:r>
              <a:rPr sz="1100" b="1" i="0">
                <a:solidFill>
                  <a:srgbClr val="0E1428"/>
                </a:solidFill>
              </a:rPr>
              <a:t>fixture-job  ▶  post-processing / teardown</a:t>
            </a:r>
          </a:p>
        </p:txBody>
      </p:sp>
      <p:sp>
        <p:nvSpPr>
          <p:cNvPr id="37" name="Rectangle 36"/>
          <p:cNvSpPr/>
          <p:nvPr/>
        </p:nvSpPr>
        <p:spPr>
          <a:xfrm>
            <a:off x="320040" y="4983480"/>
            <a:ext cx="11521440" cy="141732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0040" y="4983480"/>
            <a:ext cx="82296" cy="1417320"/>
          </a:xfrm>
          <a:prstGeom prst="rect">
            <a:avLst/>
          </a:prstGeom>
          <a:solidFill>
            <a:srgbClr val="EF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5029200"/>
            <a:ext cx="4572000" cy="347472"/>
          </a:xfrm>
          <a:prstGeom prst="rect">
            <a:avLst/>
          </a:prstGeom>
          <a:noFill/>
        </p:spPr>
        <p:txBody>
          <a:bodyPr wrap="square">
            <a:spAutoFit/>
          </a:bodyPr>
          <a:lstStyle/>
          <a:p>
            <a:pPr algn="l"/>
            <a:r>
              <a:rPr sz="1300" b="1" i="0">
                <a:solidFill>
                  <a:srgbClr val="EF476F"/>
                </a:solidFill>
              </a:rPr>
              <a:t>The Golden Rule</a:t>
            </a:r>
          </a:p>
        </p:txBody>
      </p:sp>
      <p:sp>
        <p:nvSpPr>
          <p:cNvPr id="40" name="TextBox 39"/>
          <p:cNvSpPr txBox="1"/>
          <p:nvPr/>
        </p:nvSpPr>
        <p:spPr>
          <a:xfrm>
            <a:off x="502920" y="5394960"/>
            <a:ext cx="11155680" cy="868680"/>
          </a:xfrm>
          <a:prstGeom prst="rect">
            <a:avLst/>
          </a:prstGeom>
          <a:noFill/>
        </p:spPr>
        <p:txBody>
          <a:bodyPr wrap="square">
            <a:spAutoFit/>
          </a:bodyPr>
          <a:lstStyle/>
          <a:p>
            <a:pPr algn="l"/>
            <a:r>
              <a:rPr sz="1200" b="0" i="0">
                <a:solidFill>
                  <a:srgbClr val="B0C4DE"/>
                </a:solidFill>
              </a:rPr>
              <a:t>Fixture and any branch job must NEVER run at the same time.  If even one of the 11 jobs is still running, the fixture waits.  If the fixture is running, any newly triggered branch job must wait.  The lock resource enforces this in every scenario.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428"/>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94360"/>
          </a:xfrm>
          <a:prstGeom prst="rect">
            <a:avLst/>
          </a:prstGeom>
          <a:noFill/>
        </p:spPr>
        <p:txBody>
          <a:bodyPr wrap="square">
            <a:spAutoFit/>
          </a:bodyPr>
          <a:lstStyle/>
          <a:p>
            <a:pPr algn="l"/>
            <a:r>
              <a:rPr sz="3200" b="1" i="0">
                <a:solidFill>
                  <a:srgbClr val="FFFFFF"/>
                </a:solidFill>
              </a:rPr>
              <a:t>Scenario Reference</a:t>
            </a:r>
          </a:p>
        </p:txBody>
      </p:sp>
      <p:sp>
        <p:nvSpPr>
          <p:cNvPr id="4" name="TextBox 3"/>
          <p:cNvSpPr txBox="1"/>
          <p:nvPr/>
        </p:nvSpPr>
        <p:spPr>
          <a:xfrm>
            <a:off x="457200" y="749808"/>
            <a:ext cx="10972800" cy="347472"/>
          </a:xfrm>
          <a:prstGeom prst="rect">
            <a:avLst/>
          </a:prstGeom>
          <a:noFill/>
        </p:spPr>
        <p:txBody>
          <a:bodyPr wrap="square">
            <a:spAutoFit/>
          </a:bodyPr>
          <a:lstStyle/>
          <a:p>
            <a:pPr algn="l"/>
            <a:r>
              <a:rPr sz="1400" b="0" i="0">
                <a:solidFill>
                  <a:srgbClr val="B0C4DE"/>
                </a:solidFill>
              </a:rPr>
              <a:t>Five execution scenarios — what the fixture does and whether the lock protects overlap</a:t>
            </a:r>
          </a:p>
        </p:txBody>
      </p:sp>
      <p:sp>
        <p:nvSpPr>
          <p:cNvPr id="5" name="Rectangle 4"/>
          <p:cNvSpPr/>
          <p:nvPr/>
        </p:nvSpPr>
        <p:spPr>
          <a:xfrm>
            <a:off x="365760" y="1261872"/>
            <a:ext cx="5669280" cy="47548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26480" y="1261872"/>
            <a:ext cx="2743200" cy="47548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961120" y="1261872"/>
            <a:ext cx="2834640" cy="47548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325880"/>
            <a:ext cx="5486400" cy="347472"/>
          </a:xfrm>
          <a:prstGeom prst="rect">
            <a:avLst/>
          </a:prstGeom>
          <a:noFill/>
        </p:spPr>
        <p:txBody>
          <a:bodyPr wrap="square">
            <a:spAutoFit/>
          </a:bodyPr>
          <a:lstStyle/>
          <a:p>
            <a:pPr algn="l"/>
            <a:r>
              <a:rPr sz="1200" b="1" i="0">
                <a:solidFill>
                  <a:srgbClr val="0E1428"/>
                </a:solidFill>
              </a:rPr>
              <a:t>Scenario</a:t>
            </a:r>
          </a:p>
        </p:txBody>
      </p:sp>
      <p:sp>
        <p:nvSpPr>
          <p:cNvPr id="9" name="TextBox 8"/>
          <p:cNvSpPr txBox="1"/>
          <p:nvPr/>
        </p:nvSpPr>
        <p:spPr>
          <a:xfrm>
            <a:off x="6144768" y="1325880"/>
            <a:ext cx="2651760" cy="347472"/>
          </a:xfrm>
          <a:prstGeom prst="rect">
            <a:avLst/>
          </a:prstGeom>
          <a:noFill/>
        </p:spPr>
        <p:txBody>
          <a:bodyPr wrap="square">
            <a:spAutoFit/>
          </a:bodyPr>
          <a:lstStyle/>
          <a:p>
            <a:pPr algn="ctr"/>
            <a:r>
              <a:rPr sz="1200" b="1" i="0">
                <a:solidFill>
                  <a:srgbClr val="0E1428"/>
                </a:solidFill>
              </a:rPr>
              <a:t>Fixture Trigger?</a:t>
            </a:r>
          </a:p>
        </p:txBody>
      </p:sp>
      <p:sp>
        <p:nvSpPr>
          <p:cNvPr id="10" name="TextBox 9"/>
          <p:cNvSpPr txBox="1"/>
          <p:nvPr/>
        </p:nvSpPr>
        <p:spPr>
          <a:xfrm>
            <a:off x="8979408" y="1325880"/>
            <a:ext cx="2743200" cy="347472"/>
          </a:xfrm>
          <a:prstGeom prst="rect">
            <a:avLst/>
          </a:prstGeom>
          <a:noFill/>
        </p:spPr>
        <p:txBody>
          <a:bodyPr wrap="square">
            <a:spAutoFit/>
          </a:bodyPr>
          <a:lstStyle/>
          <a:p>
            <a:pPr algn="ctr"/>
            <a:r>
              <a:rPr sz="1200" b="1" i="0">
                <a:solidFill>
                  <a:srgbClr val="0E1428"/>
                </a:solidFill>
              </a:rPr>
              <a:t>Lock Protects Overlap?</a:t>
            </a:r>
          </a:p>
        </p:txBody>
      </p:sp>
      <p:sp>
        <p:nvSpPr>
          <p:cNvPr id="11" name="Rectangle 10"/>
          <p:cNvSpPr/>
          <p:nvPr/>
        </p:nvSpPr>
        <p:spPr>
          <a:xfrm>
            <a:off x="365760" y="1828800"/>
            <a:ext cx="566928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1828800"/>
            <a:ext cx="274320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61120" y="1828800"/>
            <a:ext cx="283464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828800"/>
            <a:ext cx="73152" cy="65836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1947672"/>
            <a:ext cx="5440680" cy="438912"/>
          </a:xfrm>
          <a:prstGeom prst="rect">
            <a:avLst/>
          </a:prstGeom>
          <a:noFill/>
        </p:spPr>
        <p:txBody>
          <a:bodyPr wrap="square">
            <a:spAutoFit/>
          </a:bodyPr>
          <a:lstStyle/>
          <a:p>
            <a:pPr algn="l"/>
            <a:r>
              <a:rPr sz="1100" b="0" i="0">
                <a:solidFill>
                  <a:srgbClr val="B0C4DE"/>
                </a:solidFill>
              </a:rPr>
              <a:t>User manually runs one branch job</a:t>
            </a:r>
          </a:p>
        </p:txBody>
      </p:sp>
      <p:sp>
        <p:nvSpPr>
          <p:cNvPr id="16" name="Rectangle 15"/>
          <p:cNvSpPr/>
          <p:nvPr/>
        </p:nvSpPr>
        <p:spPr>
          <a:xfrm>
            <a:off x="6263640" y="1984248"/>
            <a:ext cx="2423160" cy="32004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984248"/>
            <a:ext cx="2423160" cy="320040"/>
          </a:xfrm>
          <a:prstGeom prst="rect">
            <a:avLst/>
          </a:prstGeom>
          <a:noFill/>
        </p:spPr>
        <p:txBody>
          <a:bodyPr wrap="square">
            <a:spAutoFit/>
          </a:bodyPr>
          <a:lstStyle/>
          <a:p>
            <a:pPr algn="ctr"/>
            <a:r>
              <a:rPr sz="1000" b="1" i="0">
                <a:solidFill>
                  <a:srgbClr val="FFFFFF"/>
                </a:solidFill>
              </a:rPr>
              <a:t>Yes</a:t>
            </a:r>
          </a:p>
        </p:txBody>
      </p:sp>
      <p:sp>
        <p:nvSpPr>
          <p:cNvPr id="18" name="Rectangle 17"/>
          <p:cNvSpPr/>
          <p:nvPr/>
        </p:nvSpPr>
        <p:spPr>
          <a:xfrm>
            <a:off x="9098280" y="1984248"/>
            <a:ext cx="2560320" cy="32004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1984248"/>
            <a:ext cx="2560320" cy="320040"/>
          </a:xfrm>
          <a:prstGeom prst="rect">
            <a:avLst/>
          </a:prstGeom>
          <a:noFill/>
        </p:spPr>
        <p:txBody>
          <a:bodyPr wrap="square">
            <a:spAutoFit/>
          </a:bodyPr>
          <a:lstStyle/>
          <a:p>
            <a:pPr algn="ctr"/>
            <a:r>
              <a:rPr sz="1000" b="1" i="0">
                <a:solidFill>
                  <a:srgbClr val="FFFFFF"/>
                </a:solidFill>
              </a:rPr>
              <a:t>Yes</a:t>
            </a:r>
          </a:p>
        </p:txBody>
      </p:sp>
      <p:sp>
        <p:nvSpPr>
          <p:cNvPr id="20" name="Rectangle 19"/>
          <p:cNvSpPr/>
          <p:nvPr/>
        </p:nvSpPr>
        <p:spPr>
          <a:xfrm>
            <a:off x="365760" y="2542032"/>
            <a:ext cx="5669280" cy="65836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2542032"/>
            <a:ext cx="2743200" cy="65836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2542032"/>
            <a:ext cx="2834640" cy="65836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542032"/>
            <a:ext cx="73152" cy="65836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 y="2660904"/>
            <a:ext cx="5440680" cy="438912"/>
          </a:xfrm>
          <a:prstGeom prst="rect">
            <a:avLst/>
          </a:prstGeom>
          <a:noFill/>
        </p:spPr>
        <p:txBody>
          <a:bodyPr wrap="square">
            <a:spAutoFit/>
          </a:bodyPr>
          <a:lstStyle/>
          <a:p>
            <a:pPr algn="l"/>
            <a:r>
              <a:rPr sz="1100" b="0" i="0">
                <a:solidFill>
                  <a:srgbClr val="B0C4DE"/>
                </a:solidFill>
              </a:rPr>
              <a:t>User manually runs fixture job</a:t>
            </a:r>
          </a:p>
        </p:txBody>
      </p:sp>
      <p:sp>
        <p:nvSpPr>
          <p:cNvPr id="25" name="Rectangle 24"/>
          <p:cNvSpPr/>
          <p:nvPr/>
        </p:nvSpPr>
        <p:spPr>
          <a:xfrm>
            <a:off x="6263640" y="2697480"/>
            <a:ext cx="2423160" cy="320040"/>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2697480"/>
            <a:ext cx="2423160" cy="320040"/>
          </a:xfrm>
          <a:prstGeom prst="rect">
            <a:avLst/>
          </a:prstGeom>
          <a:noFill/>
        </p:spPr>
        <p:txBody>
          <a:bodyPr wrap="square">
            <a:spAutoFit/>
          </a:bodyPr>
          <a:lstStyle/>
          <a:p>
            <a:pPr algn="ctr"/>
            <a:r>
              <a:rPr sz="1000" b="1" i="0">
                <a:solidFill>
                  <a:srgbClr val="FFFFFF"/>
                </a:solidFill>
              </a:rPr>
              <a:t>No recursive trigger</a:t>
            </a:r>
          </a:p>
        </p:txBody>
      </p:sp>
      <p:sp>
        <p:nvSpPr>
          <p:cNvPr id="27" name="Rectangle 26"/>
          <p:cNvSpPr/>
          <p:nvPr/>
        </p:nvSpPr>
        <p:spPr>
          <a:xfrm>
            <a:off x="9098280" y="2697480"/>
            <a:ext cx="2560320" cy="32004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2697480"/>
            <a:ext cx="2560320" cy="320040"/>
          </a:xfrm>
          <a:prstGeom prst="rect">
            <a:avLst/>
          </a:prstGeom>
          <a:noFill/>
        </p:spPr>
        <p:txBody>
          <a:bodyPr wrap="square">
            <a:spAutoFit/>
          </a:bodyPr>
          <a:lstStyle/>
          <a:p>
            <a:pPr algn="ctr"/>
            <a:r>
              <a:rPr sz="1000" b="1" i="0">
                <a:solidFill>
                  <a:srgbClr val="FFFFFF"/>
                </a:solidFill>
              </a:rPr>
              <a:t>Yes</a:t>
            </a:r>
          </a:p>
        </p:txBody>
      </p:sp>
      <p:sp>
        <p:nvSpPr>
          <p:cNvPr id="29" name="Rectangle 28"/>
          <p:cNvSpPr/>
          <p:nvPr/>
        </p:nvSpPr>
        <p:spPr>
          <a:xfrm>
            <a:off x="365760" y="3255264"/>
            <a:ext cx="566928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3255264"/>
            <a:ext cx="274320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61120" y="3255264"/>
            <a:ext cx="283464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3255264"/>
            <a:ext cx="73152" cy="65836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2064" y="3374136"/>
            <a:ext cx="5440680" cy="438912"/>
          </a:xfrm>
          <a:prstGeom prst="rect">
            <a:avLst/>
          </a:prstGeom>
          <a:noFill/>
        </p:spPr>
        <p:txBody>
          <a:bodyPr wrap="square">
            <a:spAutoFit/>
          </a:bodyPr>
          <a:lstStyle/>
          <a:p>
            <a:pPr algn="l"/>
            <a:r>
              <a:rPr sz="1100" b="1" i="0">
                <a:solidFill>
                  <a:srgbClr val="00C8E0"/>
                </a:solidFill>
              </a:rPr>
              <a:t>ALL-SYSTEM-TESTS-PIPELINE — runs all 11 jobs in parallel</a:t>
            </a:r>
          </a:p>
        </p:txBody>
      </p:sp>
      <p:sp>
        <p:nvSpPr>
          <p:cNvPr id="34" name="Rectangle 33"/>
          <p:cNvSpPr/>
          <p:nvPr/>
        </p:nvSpPr>
        <p:spPr>
          <a:xfrm>
            <a:off x="6263640" y="3410712"/>
            <a:ext cx="2423160" cy="320040"/>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3410712"/>
            <a:ext cx="2423160" cy="320040"/>
          </a:xfrm>
          <a:prstGeom prst="rect">
            <a:avLst/>
          </a:prstGeom>
          <a:noFill/>
        </p:spPr>
        <p:txBody>
          <a:bodyPr wrap="square">
            <a:spAutoFit/>
          </a:bodyPr>
          <a:lstStyle/>
          <a:p>
            <a:pPr algn="ctr"/>
            <a:r>
              <a:rPr sz="1000" b="1" i="0">
                <a:solidFill>
                  <a:srgbClr val="FFFFFF"/>
                </a:solidFill>
              </a:rPr>
              <a:t>Only once at end</a:t>
            </a:r>
          </a:p>
        </p:txBody>
      </p:sp>
      <p:sp>
        <p:nvSpPr>
          <p:cNvPr id="36" name="Rectangle 35"/>
          <p:cNvSpPr/>
          <p:nvPr/>
        </p:nvSpPr>
        <p:spPr>
          <a:xfrm>
            <a:off x="9098280" y="3410712"/>
            <a:ext cx="2560320" cy="32004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98280" y="3410712"/>
            <a:ext cx="2560320" cy="320040"/>
          </a:xfrm>
          <a:prstGeom prst="rect">
            <a:avLst/>
          </a:prstGeom>
          <a:noFill/>
        </p:spPr>
        <p:txBody>
          <a:bodyPr wrap="square">
            <a:spAutoFit/>
          </a:bodyPr>
          <a:lstStyle/>
          <a:p>
            <a:pPr algn="ctr"/>
            <a:r>
              <a:rPr sz="1000" b="1" i="0">
                <a:solidFill>
                  <a:srgbClr val="FFFFFF"/>
                </a:solidFill>
              </a:rPr>
              <a:t>Yes</a:t>
            </a:r>
          </a:p>
        </p:txBody>
      </p:sp>
      <p:sp>
        <p:nvSpPr>
          <p:cNvPr id="38" name="Rectangle 37"/>
          <p:cNvSpPr/>
          <p:nvPr/>
        </p:nvSpPr>
        <p:spPr>
          <a:xfrm>
            <a:off x="365760" y="3968496"/>
            <a:ext cx="5669280" cy="65836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3968496"/>
            <a:ext cx="2743200" cy="65836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961120" y="3968496"/>
            <a:ext cx="2834640" cy="65836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3968496"/>
            <a:ext cx="73152" cy="65836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2064" y="4087368"/>
            <a:ext cx="5440680" cy="438912"/>
          </a:xfrm>
          <a:prstGeom prst="rect">
            <a:avLst/>
          </a:prstGeom>
          <a:noFill/>
        </p:spPr>
        <p:txBody>
          <a:bodyPr wrap="square">
            <a:spAutoFit/>
          </a:bodyPr>
          <a:lstStyle/>
          <a:p>
            <a:pPr algn="l"/>
            <a:r>
              <a:rPr sz="1100" b="0" i="0">
                <a:solidFill>
                  <a:srgbClr val="B0C4DE"/>
                </a:solidFill>
              </a:rPr>
              <a:t>Fixture triggered while a branch job is still running</a:t>
            </a:r>
          </a:p>
        </p:txBody>
      </p:sp>
      <p:sp>
        <p:nvSpPr>
          <p:cNvPr id="43" name="Rectangle 42"/>
          <p:cNvSpPr/>
          <p:nvPr/>
        </p:nvSpPr>
        <p:spPr>
          <a:xfrm>
            <a:off x="6263640" y="4123944"/>
            <a:ext cx="2423160" cy="320040"/>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4123944"/>
            <a:ext cx="2423160" cy="320040"/>
          </a:xfrm>
          <a:prstGeom prst="rect">
            <a:avLst/>
          </a:prstGeom>
          <a:noFill/>
        </p:spPr>
        <p:txBody>
          <a:bodyPr wrap="square">
            <a:spAutoFit/>
          </a:bodyPr>
          <a:lstStyle/>
          <a:p>
            <a:pPr algn="ctr"/>
            <a:r>
              <a:rPr sz="1000" b="1" i="0">
                <a:solidFill>
                  <a:srgbClr val="FFFFFF"/>
                </a:solidFill>
              </a:rPr>
              <a:t>Yes, but waits</a:t>
            </a:r>
          </a:p>
        </p:txBody>
      </p:sp>
      <p:sp>
        <p:nvSpPr>
          <p:cNvPr id="45" name="Rectangle 44"/>
          <p:cNvSpPr/>
          <p:nvPr/>
        </p:nvSpPr>
        <p:spPr>
          <a:xfrm>
            <a:off x="9098280" y="4123944"/>
            <a:ext cx="2560320" cy="32004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98280" y="4123944"/>
            <a:ext cx="2560320" cy="320040"/>
          </a:xfrm>
          <a:prstGeom prst="rect">
            <a:avLst/>
          </a:prstGeom>
          <a:noFill/>
        </p:spPr>
        <p:txBody>
          <a:bodyPr wrap="square">
            <a:spAutoFit/>
          </a:bodyPr>
          <a:lstStyle/>
          <a:p>
            <a:pPr algn="ctr"/>
            <a:r>
              <a:rPr sz="1000" b="1" i="0">
                <a:solidFill>
                  <a:srgbClr val="FFFFFF"/>
                </a:solidFill>
              </a:rPr>
              <a:t>Yes</a:t>
            </a:r>
          </a:p>
        </p:txBody>
      </p:sp>
      <p:sp>
        <p:nvSpPr>
          <p:cNvPr id="47" name="Rectangle 46"/>
          <p:cNvSpPr/>
          <p:nvPr/>
        </p:nvSpPr>
        <p:spPr>
          <a:xfrm>
            <a:off x="365760" y="4681728"/>
            <a:ext cx="566928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6480" y="4681728"/>
            <a:ext cx="274320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61120" y="4681728"/>
            <a:ext cx="2834640" cy="65836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5760" y="4681728"/>
            <a:ext cx="73152" cy="65836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2064" y="4800600"/>
            <a:ext cx="5440680" cy="438912"/>
          </a:xfrm>
          <a:prstGeom prst="rect">
            <a:avLst/>
          </a:prstGeom>
          <a:noFill/>
        </p:spPr>
        <p:txBody>
          <a:bodyPr wrap="square">
            <a:spAutoFit/>
          </a:bodyPr>
          <a:lstStyle/>
          <a:p>
            <a:pPr algn="l"/>
            <a:r>
              <a:rPr sz="1100" b="0" i="0">
                <a:solidFill>
                  <a:srgbClr val="B0C4DE"/>
                </a:solidFill>
              </a:rPr>
              <a:t>Branch job triggered while fixture is running</a:t>
            </a:r>
          </a:p>
        </p:txBody>
      </p:sp>
      <p:sp>
        <p:nvSpPr>
          <p:cNvPr id="52" name="Rectangle 51"/>
          <p:cNvSpPr/>
          <p:nvPr/>
        </p:nvSpPr>
        <p:spPr>
          <a:xfrm>
            <a:off x="6263640" y="4837176"/>
            <a:ext cx="2423160" cy="320040"/>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63640" y="4837176"/>
            <a:ext cx="2423160" cy="320040"/>
          </a:xfrm>
          <a:prstGeom prst="rect">
            <a:avLst/>
          </a:prstGeom>
          <a:noFill/>
        </p:spPr>
        <p:txBody>
          <a:bodyPr wrap="square">
            <a:spAutoFit/>
          </a:bodyPr>
          <a:lstStyle/>
          <a:p>
            <a:pPr algn="ctr"/>
            <a:r>
              <a:rPr sz="1000" b="1" i="0">
                <a:solidFill>
                  <a:srgbClr val="FFFFFF"/>
                </a:solidFill>
              </a:rPr>
              <a:t>It waits</a:t>
            </a:r>
          </a:p>
        </p:txBody>
      </p:sp>
      <p:sp>
        <p:nvSpPr>
          <p:cNvPr id="54" name="Rectangle 53"/>
          <p:cNvSpPr/>
          <p:nvPr/>
        </p:nvSpPr>
        <p:spPr>
          <a:xfrm>
            <a:off x="9098280" y="4837176"/>
            <a:ext cx="2560320" cy="32004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98280" y="4837176"/>
            <a:ext cx="2560320" cy="320040"/>
          </a:xfrm>
          <a:prstGeom prst="rect">
            <a:avLst/>
          </a:prstGeom>
          <a:noFill/>
        </p:spPr>
        <p:txBody>
          <a:bodyPr wrap="square">
            <a:spAutoFit/>
          </a:bodyPr>
          <a:lstStyle/>
          <a:p>
            <a:pPr algn="ctr"/>
            <a:r>
              <a:rPr sz="1000" b="1" i="0">
                <a:solidFill>
                  <a:srgbClr val="FFFFFF"/>
                </a:solidFill>
              </a:rPr>
              <a:t>Yes</a:t>
            </a:r>
          </a:p>
        </p:txBody>
      </p:sp>
      <p:sp>
        <p:nvSpPr>
          <p:cNvPr id="56" name="Rectangle 55"/>
          <p:cNvSpPr/>
          <p:nvPr/>
        </p:nvSpPr>
        <p:spPr>
          <a:xfrm>
            <a:off x="365760" y="6035040"/>
            <a:ext cx="11430000"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5760" y="6035040"/>
            <a:ext cx="73152" cy="566928"/>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6080760"/>
            <a:ext cx="11064240" cy="475488"/>
          </a:xfrm>
          <a:prstGeom prst="rect">
            <a:avLst/>
          </a:prstGeom>
          <a:noFill/>
        </p:spPr>
        <p:txBody>
          <a:bodyPr wrap="square">
            <a:spAutoFit/>
          </a:bodyPr>
          <a:lstStyle/>
          <a:p>
            <a:pPr algn="l"/>
            <a:r>
              <a:rPr sz="1200" b="1" i="0">
                <a:solidFill>
                  <a:srgbClr val="06D68A"/>
                </a:solidFill>
              </a:rPr>
              <a:t>Lock Protects Overlap is YES in every scenario — this is the invariant the mechanism guarantees.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428"/>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30000" cy="594360"/>
          </a:xfrm>
          <a:prstGeom prst="rect">
            <a:avLst/>
          </a:prstGeom>
          <a:noFill/>
        </p:spPr>
        <p:txBody>
          <a:bodyPr wrap="square">
            <a:spAutoFit/>
          </a:bodyPr>
          <a:lstStyle/>
          <a:p>
            <a:pPr algn="l"/>
            <a:r>
              <a:rPr sz="2800" b="1" i="0">
                <a:solidFill>
                  <a:srgbClr val="00C8E0"/>
                </a:solidFill>
              </a:rPr>
              <a:t>Normal Flow: ALL-SYSTEM-TESTS-PIPELINE</a:t>
            </a:r>
          </a:p>
        </p:txBody>
      </p:sp>
      <p:sp>
        <p:nvSpPr>
          <p:cNvPr id="4" name="TextBox 3"/>
          <p:cNvSpPr txBox="1"/>
          <p:nvPr/>
        </p:nvSpPr>
        <p:spPr>
          <a:xfrm>
            <a:off x="457200" y="731520"/>
            <a:ext cx="10972800" cy="347472"/>
          </a:xfrm>
          <a:prstGeom prst="rect">
            <a:avLst/>
          </a:prstGeom>
          <a:noFill/>
        </p:spPr>
        <p:txBody>
          <a:bodyPr wrap="square">
            <a:spAutoFit/>
          </a:bodyPr>
          <a:lstStyle/>
          <a:p>
            <a:pPr algn="l"/>
            <a:r>
              <a:rPr sz="1400" b="0" i="0">
                <a:solidFill>
                  <a:srgbClr val="B0C4DE"/>
                </a:solidFill>
              </a:rPr>
              <a:t>All 11 branch jobs run in parallel — fixture fires exactly once when the last job finishes</a:t>
            </a:r>
          </a:p>
        </p:txBody>
      </p:sp>
      <p:sp>
        <p:nvSpPr>
          <p:cNvPr id="5" name="Rectangle 4"/>
          <p:cNvSpPr/>
          <p:nvPr/>
        </p:nvSpPr>
        <p:spPr>
          <a:xfrm>
            <a:off x="320040" y="1234440"/>
            <a:ext cx="11521440" cy="173736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82296" cy="173736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61872"/>
            <a:ext cx="9144000" cy="347472"/>
          </a:xfrm>
          <a:prstGeom prst="rect">
            <a:avLst/>
          </a:prstGeom>
          <a:noFill/>
        </p:spPr>
        <p:txBody>
          <a:bodyPr wrap="square">
            <a:spAutoFit/>
          </a:bodyPr>
          <a:lstStyle/>
          <a:p>
            <a:pPr algn="l"/>
            <a:r>
              <a:rPr sz="1100" b="1" i="0">
                <a:solidFill>
                  <a:srgbClr val="1A6BC4"/>
                </a:solidFill>
              </a:rPr>
              <a:t>PHASE 1  —  Parallel branch jobs (running simultaneously)</a:t>
            </a:r>
          </a:p>
        </p:txBody>
      </p:sp>
      <p:sp>
        <p:nvSpPr>
          <p:cNvPr id="8" name="Rectangle 7"/>
          <p:cNvSpPr/>
          <p:nvPr/>
        </p:nvSpPr>
        <p:spPr>
          <a:xfrm>
            <a:off x="411480"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737360"/>
            <a:ext cx="941832" cy="320040"/>
          </a:xfrm>
          <a:prstGeom prst="rect">
            <a:avLst/>
          </a:prstGeom>
          <a:noFill/>
        </p:spPr>
        <p:txBody>
          <a:bodyPr wrap="square">
            <a:spAutoFit/>
          </a:bodyPr>
          <a:lstStyle/>
          <a:p>
            <a:pPr algn="ctr"/>
            <a:r>
              <a:rPr sz="1100" b="1" i="0">
                <a:solidFill>
                  <a:srgbClr val="FFFFFF"/>
                </a:solidFill>
              </a:rPr>
              <a:t>Job 1</a:t>
            </a:r>
          </a:p>
        </p:txBody>
      </p:sp>
      <p:sp>
        <p:nvSpPr>
          <p:cNvPr id="10" name="TextBox 9"/>
          <p:cNvSpPr txBox="1"/>
          <p:nvPr/>
        </p:nvSpPr>
        <p:spPr>
          <a:xfrm>
            <a:off x="411480" y="2029968"/>
            <a:ext cx="941832" cy="228600"/>
          </a:xfrm>
          <a:prstGeom prst="rect">
            <a:avLst/>
          </a:prstGeom>
          <a:noFill/>
        </p:spPr>
        <p:txBody>
          <a:bodyPr wrap="square">
            <a:spAutoFit/>
          </a:bodyPr>
          <a:lstStyle/>
          <a:p>
            <a:pPr algn="ctr"/>
            <a:r>
              <a:rPr sz="800" b="0" i="0">
                <a:solidFill>
                  <a:srgbClr val="AAD4FF"/>
                </a:solidFill>
              </a:rPr>
              <a:t>▶ running</a:t>
            </a:r>
          </a:p>
        </p:txBody>
      </p:sp>
      <p:sp>
        <p:nvSpPr>
          <p:cNvPr id="11" name="Rectangle 10"/>
          <p:cNvSpPr/>
          <p:nvPr/>
        </p:nvSpPr>
        <p:spPr>
          <a:xfrm>
            <a:off x="1435608"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35608" y="1737360"/>
            <a:ext cx="941832" cy="320040"/>
          </a:xfrm>
          <a:prstGeom prst="rect">
            <a:avLst/>
          </a:prstGeom>
          <a:noFill/>
        </p:spPr>
        <p:txBody>
          <a:bodyPr wrap="square">
            <a:spAutoFit/>
          </a:bodyPr>
          <a:lstStyle/>
          <a:p>
            <a:pPr algn="ctr"/>
            <a:r>
              <a:rPr sz="1100" b="1" i="0">
                <a:solidFill>
                  <a:srgbClr val="FFFFFF"/>
                </a:solidFill>
              </a:rPr>
              <a:t>Job 2</a:t>
            </a:r>
          </a:p>
        </p:txBody>
      </p:sp>
      <p:sp>
        <p:nvSpPr>
          <p:cNvPr id="13" name="TextBox 12"/>
          <p:cNvSpPr txBox="1"/>
          <p:nvPr/>
        </p:nvSpPr>
        <p:spPr>
          <a:xfrm>
            <a:off x="1435608" y="2029968"/>
            <a:ext cx="941832" cy="228600"/>
          </a:xfrm>
          <a:prstGeom prst="rect">
            <a:avLst/>
          </a:prstGeom>
          <a:noFill/>
        </p:spPr>
        <p:txBody>
          <a:bodyPr wrap="square">
            <a:spAutoFit/>
          </a:bodyPr>
          <a:lstStyle/>
          <a:p>
            <a:pPr algn="ctr"/>
            <a:r>
              <a:rPr sz="800" b="0" i="0">
                <a:solidFill>
                  <a:srgbClr val="AAD4FF"/>
                </a:solidFill>
              </a:rPr>
              <a:t>▶ running</a:t>
            </a:r>
          </a:p>
        </p:txBody>
      </p:sp>
      <p:sp>
        <p:nvSpPr>
          <p:cNvPr id="14" name="Rectangle 13"/>
          <p:cNvSpPr/>
          <p:nvPr/>
        </p:nvSpPr>
        <p:spPr>
          <a:xfrm>
            <a:off x="2459736"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59736" y="1737360"/>
            <a:ext cx="941832" cy="320040"/>
          </a:xfrm>
          <a:prstGeom prst="rect">
            <a:avLst/>
          </a:prstGeom>
          <a:noFill/>
        </p:spPr>
        <p:txBody>
          <a:bodyPr wrap="square">
            <a:spAutoFit/>
          </a:bodyPr>
          <a:lstStyle/>
          <a:p>
            <a:pPr algn="ctr"/>
            <a:r>
              <a:rPr sz="1100" b="1" i="0">
                <a:solidFill>
                  <a:srgbClr val="FFFFFF"/>
                </a:solidFill>
              </a:rPr>
              <a:t>Job 3</a:t>
            </a:r>
          </a:p>
        </p:txBody>
      </p:sp>
      <p:sp>
        <p:nvSpPr>
          <p:cNvPr id="16" name="TextBox 15"/>
          <p:cNvSpPr txBox="1"/>
          <p:nvPr/>
        </p:nvSpPr>
        <p:spPr>
          <a:xfrm>
            <a:off x="2459736" y="2029968"/>
            <a:ext cx="941832" cy="228600"/>
          </a:xfrm>
          <a:prstGeom prst="rect">
            <a:avLst/>
          </a:prstGeom>
          <a:noFill/>
        </p:spPr>
        <p:txBody>
          <a:bodyPr wrap="square">
            <a:spAutoFit/>
          </a:bodyPr>
          <a:lstStyle/>
          <a:p>
            <a:pPr algn="ctr"/>
            <a:r>
              <a:rPr sz="800" b="0" i="0">
                <a:solidFill>
                  <a:srgbClr val="AAD4FF"/>
                </a:solidFill>
              </a:rPr>
              <a:t>▶ running</a:t>
            </a:r>
          </a:p>
        </p:txBody>
      </p:sp>
      <p:sp>
        <p:nvSpPr>
          <p:cNvPr id="17" name="Rectangle 16"/>
          <p:cNvSpPr/>
          <p:nvPr/>
        </p:nvSpPr>
        <p:spPr>
          <a:xfrm>
            <a:off x="3483864"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83864" y="1737360"/>
            <a:ext cx="941832" cy="320040"/>
          </a:xfrm>
          <a:prstGeom prst="rect">
            <a:avLst/>
          </a:prstGeom>
          <a:noFill/>
        </p:spPr>
        <p:txBody>
          <a:bodyPr wrap="square">
            <a:spAutoFit/>
          </a:bodyPr>
          <a:lstStyle/>
          <a:p>
            <a:pPr algn="ctr"/>
            <a:r>
              <a:rPr sz="1100" b="1" i="0">
                <a:solidFill>
                  <a:srgbClr val="FFFFFF"/>
                </a:solidFill>
              </a:rPr>
              <a:t>Job 4</a:t>
            </a:r>
          </a:p>
        </p:txBody>
      </p:sp>
      <p:sp>
        <p:nvSpPr>
          <p:cNvPr id="19" name="TextBox 18"/>
          <p:cNvSpPr txBox="1"/>
          <p:nvPr/>
        </p:nvSpPr>
        <p:spPr>
          <a:xfrm>
            <a:off x="3483864" y="2029968"/>
            <a:ext cx="941832" cy="228600"/>
          </a:xfrm>
          <a:prstGeom prst="rect">
            <a:avLst/>
          </a:prstGeom>
          <a:noFill/>
        </p:spPr>
        <p:txBody>
          <a:bodyPr wrap="square">
            <a:spAutoFit/>
          </a:bodyPr>
          <a:lstStyle/>
          <a:p>
            <a:pPr algn="ctr"/>
            <a:r>
              <a:rPr sz="800" b="0" i="0">
                <a:solidFill>
                  <a:srgbClr val="AAD4FF"/>
                </a:solidFill>
              </a:rPr>
              <a:t>▶ running</a:t>
            </a:r>
          </a:p>
        </p:txBody>
      </p:sp>
      <p:sp>
        <p:nvSpPr>
          <p:cNvPr id="20" name="Rectangle 19"/>
          <p:cNvSpPr/>
          <p:nvPr/>
        </p:nvSpPr>
        <p:spPr>
          <a:xfrm>
            <a:off x="4507992"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1737360"/>
            <a:ext cx="941832" cy="320040"/>
          </a:xfrm>
          <a:prstGeom prst="rect">
            <a:avLst/>
          </a:prstGeom>
          <a:noFill/>
        </p:spPr>
        <p:txBody>
          <a:bodyPr wrap="square">
            <a:spAutoFit/>
          </a:bodyPr>
          <a:lstStyle/>
          <a:p>
            <a:pPr algn="ctr"/>
            <a:r>
              <a:rPr sz="1100" b="1" i="0">
                <a:solidFill>
                  <a:srgbClr val="FFFFFF"/>
                </a:solidFill>
              </a:rPr>
              <a:t>Job 5</a:t>
            </a:r>
          </a:p>
        </p:txBody>
      </p:sp>
      <p:sp>
        <p:nvSpPr>
          <p:cNvPr id="22" name="TextBox 21"/>
          <p:cNvSpPr txBox="1"/>
          <p:nvPr/>
        </p:nvSpPr>
        <p:spPr>
          <a:xfrm>
            <a:off x="4507992" y="2029968"/>
            <a:ext cx="941832" cy="228600"/>
          </a:xfrm>
          <a:prstGeom prst="rect">
            <a:avLst/>
          </a:prstGeom>
          <a:noFill/>
        </p:spPr>
        <p:txBody>
          <a:bodyPr wrap="square">
            <a:spAutoFit/>
          </a:bodyPr>
          <a:lstStyle/>
          <a:p>
            <a:pPr algn="ctr"/>
            <a:r>
              <a:rPr sz="800" b="0" i="0">
                <a:solidFill>
                  <a:srgbClr val="AAD4FF"/>
                </a:solidFill>
              </a:rPr>
              <a:t>▶ running</a:t>
            </a:r>
          </a:p>
        </p:txBody>
      </p:sp>
      <p:sp>
        <p:nvSpPr>
          <p:cNvPr id="23" name="Rectangle 22"/>
          <p:cNvSpPr/>
          <p:nvPr/>
        </p:nvSpPr>
        <p:spPr>
          <a:xfrm>
            <a:off x="5532120"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32120" y="1737360"/>
            <a:ext cx="941832" cy="320040"/>
          </a:xfrm>
          <a:prstGeom prst="rect">
            <a:avLst/>
          </a:prstGeom>
          <a:noFill/>
        </p:spPr>
        <p:txBody>
          <a:bodyPr wrap="square">
            <a:spAutoFit/>
          </a:bodyPr>
          <a:lstStyle/>
          <a:p>
            <a:pPr algn="ctr"/>
            <a:r>
              <a:rPr sz="1100" b="1" i="0">
                <a:solidFill>
                  <a:srgbClr val="FFFFFF"/>
                </a:solidFill>
              </a:rPr>
              <a:t>Job 6</a:t>
            </a:r>
          </a:p>
        </p:txBody>
      </p:sp>
      <p:sp>
        <p:nvSpPr>
          <p:cNvPr id="25" name="TextBox 24"/>
          <p:cNvSpPr txBox="1"/>
          <p:nvPr/>
        </p:nvSpPr>
        <p:spPr>
          <a:xfrm>
            <a:off x="5532120" y="2029968"/>
            <a:ext cx="941832" cy="228600"/>
          </a:xfrm>
          <a:prstGeom prst="rect">
            <a:avLst/>
          </a:prstGeom>
          <a:noFill/>
        </p:spPr>
        <p:txBody>
          <a:bodyPr wrap="square">
            <a:spAutoFit/>
          </a:bodyPr>
          <a:lstStyle/>
          <a:p>
            <a:pPr algn="ctr"/>
            <a:r>
              <a:rPr sz="800" b="0" i="0">
                <a:solidFill>
                  <a:srgbClr val="AAD4FF"/>
                </a:solidFill>
              </a:rPr>
              <a:t>▶ running</a:t>
            </a:r>
          </a:p>
        </p:txBody>
      </p:sp>
      <p:sp>
        <p:nvSpPr>
          <p:cNvPr id="26" name="Rectangle 25"/>
          <p:cNvSpPr/>
          <p:nvPr/>
        </p:nvSpPr>
        <p:spPr>
          <a:xfrm>
            <a:off x="6556248"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6248" y="1737360"/>
            <a:ext cx="941832" cy="320040"/>
          </a:xfrm>
          <a:prstGeom prst="rect">
            <a:avLst/>
          </a:prstGeom>
          <a:noFill/>
        </p:spPr>
        <p:txBody>
          <a:bodyPr wrap="square">
            <a:spAutoFit/>
          </a:bodyPr>
          <a:lstStyle/>
          <a:p>
            <a:pPr algn="ctr"/>
            <a:r>
              <a:rPr sz="1100" b="1" i="0">
                <a:solidFill>
                  <a:srgbClr val="FFFFFF"/>
                </a:solidFill>
              </a:rPr>
              <a:t>Job 7</a:t>
            </a:r>
          </a:p>
        </p:txBody>
      </p:sp>
      <p:sp>
        <p:nvSpPr>
          <p:cNvPr id="28" name="TextBox 27"/>
          <p:cNvSpPr txBox="1"/>
          <p:nvPr/>
        </p:nvSpPr>
        <p:spPr>
          <a:xfrm>
            <a:off x="6556248" y="2029968"/>
            <a:ext cx="941832" cy="228600"/>
          </a:xfrm>
          <a:prstGeom prst="rect">
            <a:avLst/>
          </a:prstGeom>
          <a:noFill/>
        </p:spPr>
        <p:txBody>
          <a:bodyPr wrap="square">
            <a:spAutoFit/>
          </a:bodyPr>
          <a:lstStyle/>
          <a:p>
            <a:pPr algn="ctr"/>
            <a:r>
              <a:rPr sz="800" b="0" i="0">
                <a:solidFill>
                  <a:srgbClr val="AAD4FF"/>
                </a:solidFill>
              </a:rPr>
              <a:t>▶ running</a:t>
            </a:r>
          </a:p>
        </p:txBody>
      </p:sp>
      <p:sp>
        <p:nvSpPr>
          <p:cNvPr id="29" name="Rectangle 28"/>
          <p:cNvSpPr/>
          <p:nvPr/>
        </p:nvSpPr>
        <p:spPr>
          <a:xfrm>
            <a:off x="7580376"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0376" y="1737360"/>
            <a:ext cx="941832" cy="320040"/>
          </a:xfrm>
          <a:prstGeom prst="rect">
            <a:avLst/>
          </a:prstGeom>
          <a:noFill/>
        </p:spPr>
        <p:txBody>
          <a:bodyPr wrap="square">
            <a:spAutoFit/>
          </a:bodyPr>
          <a:lstStyle/>
          <a:p>
            <a:pPr algn="ctr"/>
            <a:r>
              <a:rPr sz="1100" b="1" i="0">
                <a:solidFill>
                  <a:srgbClr val="FFFFFF"/>
                </a:solidFill>
              </a:rPr>
              <a:t>Job 8</a:t>
            </a:r>
          </a:p>
        </p:txBody>
      </p:sp>
      <p:sp>
        <p:nvSpPr>
          <p:cNvPr id="31" name="TextBox 30"/>
          <p:cNvSpPr txBox="1"/>
          <p:nvPr/>
        </p:nvSpPr>
        <p:spPr>
          <a:xfrm>
            <a:off x="7580376" y="2029968"/>
            <a:ext cx="941832" cy="228600"/>
          </a:xfrm>
          <a:prstGeom prst="rect">
            <a:avLst/>
          </a:prstGeom>
          <a:noFill/>
        </p:spPr>
        <p:txBody>
          <a:bodyPr wrap="square">
            <a:spAutoFit/>
          </a:bodyPr>
          <a:lstStyle/>
          <a:p>
            <a:pPr algn="ctr"/>
            <a:r>
              <a:rPr sz="800" b="0" i="0">
                <a:solidFill>
                  <a:srgbClr val="AAD4FF"/>
                </a:solidFill>
              </a:rPr>
              <a:t>▶ running</a:t>
            </a:r>
          </a:p>
        </p:txBody>
      </p:sp>
      <p:sp>
        <p:nvSpPr>
          <p:cNvPr id="32" name="Rectangle 31"/>
          <p:cNvSpPr/>
          <p:nvPr/>
        </p:nvSpPr>
        <p:spPr>
          <a:xfrm>
            <a:off x="8604504"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04504" y="1737360"/>
            <a:ext cx="941832" cy="320040"/>
          </a:xfrm>
          <a:prstGeom prst="rect">
            <a:avLst/>
          </a:prstGeom>
          <a:noFill/>
        </p:spPr>
        <p:txBody>
          <a:bodyPr wrap="square">
            <a:spAutoFit/>
          </a:bodyPr>
          <a:lstStyle/>
          <a:p>
            <a:pPr algn="ctr"/>
            <a:r>
              <a:rPr sz="1100" b="1" i="0">
                <a:solidFill>
                  <a:srgbClr val="FFFFFF"/>
                </a:solidFill>
              </a:rPr>
              <a:t>Job 9</a:t>
            </a:r>
          </a:p>
        </p:txBody>
      </p:sp>
      <p:sp>
        <p:nvSpPr>
          <p:cNvPr id="34" name="TextBox 33"/>
          <p:cNvSpPr txBox="1"/>
          <p:nvPr/>
        </p:nvSpPr>
        <p:spPr>
          <a:xfrm>
            <a:off x="8604504" y="2029968"/>
            <a:ext cx="941832" cy="228600"/>
          </a:xfrm>
          <a:prstGeom prst="rect">
            <a:avLst/>
          </a:prstGeom>
          <a:noFill/>
        </p:spPr>
        <p:txBody>
          <a:bodyPr wrap="square">
            <a:spAutoFit/>
          </a:bodyPr>
          <a:lstStyle/>
          <a:p>
            <a:pPr algn="ctr"/>
            <a:r>
              <a:rPr sz="800" b="0" i="0">
                <a:solidFill>
                  <a:srgbClr val="AAD4FF"/>
                </a:solidFill>
              </a:rPr>
              <a:t>▶ running</a:t>
            </a:r>
          </a:p>
        </p:txBody>
      </p:sp>
      <p:sp>
        <p:nvSpPr>
          <p:cNvPr id="35" name="Rectangle 34"/>
          <p:cNvSpPr/>
          <p:nvPr/>
        </p:nvSpPr>
        <p:spPr>
          <a:xfrm>
            <a:off x="9628632"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28632" y="1737360"/>
            <a:ext cx="941832" cy="320040"/>
          </a:xfrm>
          <a:prstGeom prst="rect">
            <a:avLst/>
          </a:prstGeom>
          <a:noFill/>
        </p:spPr>
        <p:txBody>
          <a:bodyPr wrap="square">
            <a:spAutoFit/>
          </a:bodyPr>
          <a:lstStyle/>
          <a:p>
            <a:pPr algn="ctr"/>
            <a:r>
              <a:rPr sz="1100" b="1" i="0">
                <a:solidFill>
                  <a:srgbClr val="FFFFFF"/>
                </a:solidFill>
              </a:rPr>
              <a:t>Job 10</a:t>
            </a:r>
          </a:p>
        </p:txBody>
      </p:sp>
      <p:sp>
        <p:nvSpPr>
          <p:cNvPr id="37" name="TextBox 36"/>
          <p:cNvSpPr txBox="1"/>
          <p:nvPr/>
        </p:nvSpPr>
        <p:spPr>
          <a:xfrm>
            <a:off x="9628632" y="2029968"/>
            <a:ext cx="941832" cy="228600"/>
          </a:xfrm>
          <a:prstGeom prst="rect">
            <a:avLst/>
          </a:prstGeom>
          <a:noFill/>
        </p:spPr>
        <p:txBody>
          <a:bodyPr wrap="square">
            <a:spAutoFit/>
          </a:bodyPr>
          <a:lstStyle/>
          <a:p>
            <a:pPr algn="ctr"/>
            <a:r>
              <a:rPr sz="800" b="0" i="0">
                <a:solidFill>
                  <a:srgbClr val="AAD4FF"/>
                </a:solidFill>
              </a:rPr>
              <a:t>▶ running</a:t>
            </a:r>
          </a:p>
        </p:txBody>
      </p:sp>
      <p:sp>
        <p:nvSpPr>
          <p:cNvPr id="38" name="Rectangle 37"/>
          <p:cNvSpPr/>
          <p:nvPr/>
        </p:nvSpPr>
        <p:spPr>
          <a:xfrm>
            <a:off x="10652760" y="1719072"/>
            <a:ext cx="941832" cy="54864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52760" y="1737360"/>
            <a:ext cx="941832" cy="320040"/>
          </a:xfrm>
          <a:prstGeom prst="rect">
            <a:avLst/>
          </a:prstGeom>
          <a:noFill/>
        </p:spPr>
        <p:txBody>
          <a:bodyPr wrap="square">
            <a:spAutoFit/>
          </a:bodyPr>
          <a:lstStyle/>
          <a:p>
            <a:pPr algn="ctr"/>
            <a:r>
              <a:rPr sz="1100" b="1" i="0">
                <a:solidFill>
                  <a:srgbClr val="FFFFFF"/>
                </a:solidFill>
              </a:rPr>
              <a:t>Job 11</a:t>
            </a:r>
          </a:p>
        </p:txBody>
      </p:sp>
      <p:sp>
        <p:nvSpPr>
          <p:cNvPr id="40" name="TextBox 39"/>
          <p:cNvSpPr txBox="1"/>
          <p:nvPr/>
        </p:nvSpPr>
        <p:spPr>
          <a:xfrm>
            <a:off x="10652760" y="2029968"/>
            <a:ext cx="941832" cy="228600"/>
          </a:xfrm>
          <a:prstGeom prst="rect">
            <a:avLst/>
          </a:prstGeom>
          <a:noFill/>
        </p:spPr>
        <p:txBody>
          <a:bodyPr wrap="square">
            <a:spAutoFit/>
          </a:bodyPr>
          <a:lstStyle/>
          <a:p>
            <a:pPr algn="ctr"/>
            <a:r>
              <a:rPr sz="800" b="0" i="0">
                <a:solidFill>
                  <a:srgbClr val="AAD4FF"/>
                </a:solidFill>
              </a:rPr>
              <a:t>▶ running</a:t>
            </a:r>
          </a:p>
        </p:txBody>
      </p:sp>
      <p:sp>
        <p:nvSpPr>
          <p:cNvPr id="41" name="Rectangle 40"/>
          <p:cNvSpPr/>
          <p:nvPr/>
        </p:nvSpPr>
        <p:spPr>
          <a:xfrm>
            <a:off x="320040" y="3108960"/>
            <a:ext cx="11521440" cy="438912"/>
          </a:xfrm>
          <a:prstGeom prst="rect">
            <a:avLst/>
          </a:prstGeom>
          <a:solidFill>
            <a:srgbClr val="251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040" y="3108960"/>
            <a:ext cx="11521440" cy="36576"/>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3136392"/>
            <a:ext cx="9144000" cy="347472"/>
          </a:xfrm>
          <a:prstGeom prst="rect">
            <a:avLst/>
          </a:prstGeom>
          <a:noFill/>
        </p:spPr>
        <p:txBody>
          <a:bodyPr wrap="square">
            <a:spAutoFit/>
          </a:bodyPr>
          <a:lstStyle/>
          <a:p>
            <a:pPr algn="l"/>
            <a:r>
              <a:rPr sz="1200" b="1" i="0">
                <a:solidFill>
                  <a:srgbClr val="FF9530"/>
                </a:solidFill>
              </a:rPr>
              <a:t>🔒  Lock Gate — fixture waits here until ALL 11 jobs finish</a:t>
            </a:r>
          </a:p>
        </p:txBody>
      </p:sp>
      <p:sp>
        <p:nvSpPr>
          <p:cNvPr id="44" name="Rectangle 43"/>
          <p:cNvSpPr/>
          <p:nvPr/>
        </p:nvSpPr>
        <p:spPr>
          <a:xfrm>
            <a:off x="320040" y="3703320"/>
            <a:ext cx="11521440" cy="1097280"/>
          </a:xfrm>
          <a:prstGeom prst="rect">
            <a:avLst/>
          </a:prstGeom>
          <a:solidFill>
            <a:srgbClr val="042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040" y="3703320"/>
            <a:ext cx="82296" cy="109728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3730752"/>
            <a:ext cx="9144000" cy="347472"/>
          </a:xfrm>
          <a:prstGeom prst="rect">
            <a:avLst/>
          </a:prstGeom>
          <a:noFill/>
        </p:spPr>
        <p:txBody>
          <a:bodyPr wrap="square">
            <a:spAutoFit/>
          </a:bodyPr>
          <a:lstStyle/>
          <a:p>
            <a:pPr algn="l"/>
            <a:r>
              <a:rPr sz="1100" b="1" i="0">
                <a:solidFill>
                  <a:srgbClr val="06D68A"/>
                </a:solidFill>
              </a:rPr>
              <a:t>PHASE 2  —  Fixture job (runs once, after ALL 11 complete)</a:t>
            </a:r>
          </a:p>
        </p:txBody>
      </p:sp>
      <p:sp>
        <p:nvSpPr>
          <p:cNvPr id="47" name="Rectangle 46"/>
          <p:cNvSpPr/>
          <p:nvPr/>
        </p:nvSpPr>
        <p:spPr>
          <a:xfrm>
            <a:off x="2286000" y="4160520"/>
            <a:ext cx="5029200" cy="50292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86000" y="4187952"/>
            <a:ext cx="5029200" cy="438912"/>
          </a:xfrm>
          <a:prstGeom prst="rect">
            <a:avLst/>
          </a:prstGeom>
          <a:noFill/>
        </p:spPr>
        <p:txBody>
          <a:bodyPr wrap="square">
            <a:spAutoFit/>
          </a:bodyPr>
          <a:lstStyle/>
          <a:p>
            <a:pPr algn="ctr"/>
            <a:r>
              <a:rPr sz="1300" b="1" i="0">
                <a:solidFill>
                  <a:srgbClr val="0E1428"/>
                </a:solidFill>
              </a:rPr>
              <a:t>fixture-job  ▶  teardown / post-processing</a:t>
            </a:r>
          </a:p>
        </p:txBody>
      </p:sp>
      <p:sp>
        <p:nvSpPr>
          <p:cNvPr id="49" name="Rectangle 48"/>
          <p:cNvSpPr/>
          <p:nvPr/>
        </p:nvSpPr>
        <p:spPr>
          <a:xfrm>
            <a:off x="365760" y="4983480"/>
            <a:ext cx="3566160" cy="155448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5760" y="4983480"/>
            <a:ext cx="73152" cy="155448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30352" y="5093208"/>
            <a:ext cx="3337560" cy="347472"/>
          </a:xfrm>
          <a:prstGeom prst="rect">
            <a:avLst/>
          </a:prstGeom>
          <a:noFill/>
        </p:spPr>
        <p:txBody>
          <a:bodyPr wrap="square">
            <a:spAutoFit/>
          </a:bodyPr>
          <a:lstStyle/>
          <a:p>
            <a:pPr algn="l"/>
            <a:r>
              <a:rPr sz="1200" b="1" i="0">
                <a:solidFill>
                  <a:srgbClr val="00C8E0"/>
                </a:solidFill>
              </a:rPr>
              <a:t>Single trigger</a:t>
            </a:r>
          </a:p>
        </p:txBody>
      </p:sp>
      <p:sp>
        <p:nvSpPr>
          <p:cNvPr id="52" name="TextBox 51"/>
          <p:cNvSpPr txBox="1"/>
          <p:nvPr/>
        </p:nvSpPr>
        <p:spPr>
          <a:xfrm>
            <a:off x="530352" y="5486400"/>
            <a:ext cx="3337560" cy="914400"/>
          </a:xfrm>
          <a:prstGeom prst="rect">
            <a:avLst/>
          </a:prstGeom>
          <a:noFill/>
        </p:spPr>
        <p:txBody>
          <a:bodyPr wrap="square">
            <a:spAutoFit/>
          </a:bodyPr>
          <a:lstStyle/>
          <a:p>
            <a:pPr algn="l"/>
            <a:r>
              <a:rPr sz="1100" b="0" i="0">
                <a:solidFill>
                  <a:srgbClr val="B0C4DE"/>
                </a:solidFill>
              </a:rPr>
              <a:t>No matter how many jobs complete, the fixture fires exactly once — at the very end.</a:t>
            </a:r>
          </a:p>
        </p:txBody>
      </p:sp>
      <p:sp>
        <p:nvSpPr>
          <p:cNvPr id="53" name="Rectangle 52"/>
          <p:cNvSpPr/>
          <p:nvPr/>
        </p:nvSpPr>
        <p:spPr>
          <a:xfrm>
            <a:off x="4206240" y="4983480"/>
            <a:ext cx="3566160" cy="155448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206240" y="4983480"/>
            <a:ext cx="73152" cy="155448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370832" y="5093208"/>
            <a:ext cx="3337560" cy="347472"/>
          </a:xfrm>
          <a:prstGeom prst="rect">
            <a:avLst/>
          </a:prstGeom>
          <a:noFill/>
        </p:spPr>
        <p:txBody>
          <a:bodyPr wrap="square">
            <a:spAutoFit/>
          </a:bodyPr>
          <a:lstStyle/>
          <a:p>
            <a:pPr algn="l"/>
            <a:r>
              <a:rPr sz="1200" b="1" i="0">
                <a:solidFill>
                  <a:srgbClr val="06D68A"/>
                </a:solidFill>
              </a:rPr>
              <a:t>No redundant runs</a:t>
            </a:r>
          </a:p>
        </p:txBody>
      </p:sp>
      <p:sp>
        <p:nvSpPr>
          <p:cNvPr id="56" name="TextBox 55"/>
          <p:cNvSpPr txBox="1"/>
          <p:nvPr/>
        </p:nvSpPr>
        <p:spPr>
          <a:xfrm>
            <a:off x="4370832" y="5486400"/>
            <a:ext cx="3337560" cy="914400"/>
          </a:xfrm>
          <a:prstGeom prst="rect">
            <a:avLst/>
          </a:prstGeom>
          <a:noFill/>
        </p:spPr>
        <p:txBody>
          <a:bodyPr wrap="square">
            <a:spAutoFit/>
          </a:bodyPr>
          <a:lstStyle/>
          <a:p>
            <a:pPr algn="l"/>
            <a:r>
              <a:rPr sz="1100" b="0" i="0">
                <a:solidFill>
                  <a:srgbClr val="B0C4DE"/>
                </a:solidFill>
              </a:rPr>
              <a:t>Individual job completions do NOT each spawn their own fixture run.</a:t>
            </a:r>
          </a:p>
        </p:txBody>
      </p:sp>
      <p:sp>
        <p:nvSpPr>
          <p:cNvPr id="57" name="Rectangle 56"/>
          <p:cNvSpPr/>
          <p:nvPr/>
        </p:nvSpPr>
        <p:spPr>
          <a:xfrm>
            <a:off x="8046720" y="4983480"/>
            <a:ext cx="3566160" cy="155448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046720" y="4983480"/>
            <a:ext cx="73152" cy="1554480"/>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11312" y="5093208"/>
            <a:ext cx="3337560" cy="347472"/>
          </a:xfrm>
          <a:prstGeom prst="rect">
            <a:avLst/>
          </a:prstGeom>
          <a:noFill/>
        </p:spPr>
        <p:txBody>
          <a:bodyPr wrap="square">
            <a:spAutoFit/>
          </a:bodyPr>
          <a:lstStyle/>
          <a:p>
            <a:pPr algn="l"/>
            <a:r>
              <a:rPr sz="1200" b="1" i="0">
                <a:solidFill>
                  <a:srgbClr val="FF9530"/>
                </a:solidFill>
              </a:rPr>
              <a:t>Lock enforced</a:t>
            </a:r>
          </a:p>
        </p:txBody>
      </p:sp>
      <p:sp>
        <p:nvSpPr>
          <p:cNvPr id="60" name="TextBox 59"/>
          <p:cNvSpPr txBox="1"/>
          <p:nvPr/>
        </p:nvSpPr>
        <p:spPr>
          <a:xfrm>
            <a:off x="8211312" y="5486400"/>
            <a:ext cx="3337560" cy="914400"/>
          </a:xfrm>
          <a:prstGeom prst="rect">
            <a:avLst/>
          </a:prstGeom>
          <a:noFill/>
        </p:spPr>
        <p:txBody>
          <a:bodyPr wrap="square">
            <a:spAutoFit/>
          </a:bodyPr>
          <a:lstStyle/>
          <a:p>
            <a:pPr algn="l"/>
            <a:r>
              <a:rPr sz="1100" b="0" i="0">
                <a:solidFill>
                  <a:srgbClr val="B0C4DE"/>
                </a:solidFill>
              </a:rPr>
              <a:t>The fixture cannot begin if any of the 11 jobs is still executing.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428"/>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66928"/>
          </a:xfrm>
          <a:prstGeom prst="rect">
            <a:avLst/>
          </a:prstGeom>
          <a:noFill/>
        </p:spPr>
        <p:txBody>
          <a:bodyPr wrap="square">
            <a:spAutoFit/>
          </a:bodyPr>
          <a:lstStyle/>
          <a:p>
            <a:pPr algn="l"/>
            <a:r>
              <a:rPr sz="2800" b="1" i="0">
                <a:solidFill>
                  <a:srgbClr val="FFFFFF"/>
                </a:solidFill>
              </a:rPr>
              <a:t>Collision Prevention in Practice</a:t>
            </a:r>
          </a:p>
        </p:txBody>
      </p:sp>
      <p:sp>
        <p:nvSpPr>
          <p:cNvPr id="4" name="TextBox 3"/>
          <p:cNvSpPr txBox="1"/>
          <p:nvPr/>
        </p:nvSpPr>
        <p:spPr>
          <a:xfrm>
            <a:off x="457200" y="704088"/>
            <a:ext cx="10972800" cy="347472"/>
          </a:xfrm>
          <a:prstGeom prst="rect">
            <a:avLst/>
          </a:prstGeom>
          <a:noFill/>
        </p:spPr>
        <p:txBody>
          <a:bodyPr wrap="square">
            <a:spAutoFit/>
          </a:bodyPr>
          <a:lstStyle/>
          <a:p>
            <a:pPr algn="l"/>
            <a:r>
              <a:rPr sz="1400" b="0" i="0">
                <a:solidFill>
                  <a:srgbClr val="B0C4DE"/>
                </a:solidFill>
              </a:rPr>
              <a:t>The lock resolves two real-world race conditions — both are handled safely</a:t>
            </a:r>
          </a:p>
        </p:txBody>
      </p:sp>
      <p:sp>
        <p:nvSpPr>
          <p:cNvPr id="5" name="Rectangle 4"/>
          <p:cNvSpPr/>
          <p:nvPr/>
        </p:nvSpPr>
        <p:spPr>
          <a:xfrm>
            <a:off x="320040" y="1188720"/>
            <a:ext cx="11521440" cy="233172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82296" cy="2331720"/>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2336" y="1188720"/>
            <a:ext cx="11439144" cy="438912"/>
          </a:xfrm>
          <a:prstGeom prst="rect">
            <a:avLst/>
          </a:prstGeom>
          <a:solidFill>
            <a:srgbClr val="0D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261872"/>
            <a:ext cx="10515600" cy="320040"/>
          </a:xfrm>
          <a:prstGeom prst="rect">
            <a:avLst/>
          </a:prstGeom>
          <a:noFill/>
        </p:spPr>
        <p:txBody>
          <a:bodyPr wrap="square">
            <a:spAutoFit/>
          </a:bodyPr>
          <a:lstStyle/>
          <a:p>
            <a:pPr algn="l"/>
            <a:r>
              <a:rPr sz="1300" b="1" i="0">
                <a:solidFill>
                  <a:srgbClr val="FF9530"/>
                </a:solidFill>
              </a:rPr>
              <a:t>SCENARIO 4 — Fixture triggered while a branch job is still running</a:t>
            </a:r>
          </a:p>
        </p:txBody>
      </p:sp>
      <p:sp>
        <p:nvSpPr>
          <p:cNvPr id="9" name="Rectangle 8"/>
          <p:cNvSpPr/>
          <p:nvPr/>
        </p:nvSpPr>
        <p:spPr>
          <a:xfrm>
            <a:off x="402336" y="1719072"/>
            <a:ext cx="1143000" cy="457200"/>
          </a:xfrm>
          <a:prstGeom prst="rect">
            <a:avLst/>
          </a:prstGeom>
          <a:solidFill>
            <a:srgbClr val="556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6" y="1773936"/>
            <a:ext cx="1143000" cy="347472"/>
          </a:xfrm>
          <a:prstGeom prst="rect">
            <a:avLst/>
          </a:prstGeom>
          <a:noFill/>
        </p:spPr>
        <p:txBody>
          <a:bodyPr wrap="square">
            <a:spAutoFit/>
          </a:bodyPr>
          <a:lstStyle/>
          <a:p>
            <a:pPr algn="ctr"/>
            <a:r>
              <a:rPr sz="1000" b="1" i="0">
                <a:solidFill>
                  <a:srgbClr val="FFFFFF"/>
                </a:solidFill>
              </a:rPr>
              <a:t>Branch Job</a:t>
            </a:r>
          </a:p>
        </p:txBody>
      </p:sp>
      <p:sp>
        <p:nvSpPr>
          <p:cNvPr id="11" name="Rectangle 10"/>
          <p:cNvSpPr/>
          <p:nvPr/>
        </p:nvSpPr>
        <p:spPr>
          <a:xfrm>
            <a:off x="1627632" y="1719072"/>
            <a:ext cx="5029200" cy="45720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64208" y="1810512"/>
            <a:ext cx="4956048" cy="274320"/>
          </a:xfrm>
          <a:prstGeom prst="rect">
            <a:avLst/>
          </a:prstGeom>
          <a:noFill/>
        </p:spPr>
        <p:txBody>
          <a:bodyPr wrap="square">
            <a:spAutoFit/>
          </a:bodyPr>
          <a:lstStyle/>
          <a:p>
            <a:pPr algn="l"/>
            <a:r>
              <a:rPr sz="900" b="0" i="0">
                <a:solidFill>
                  <a:srgbClr val="FFFFFF"/>
                </a:solidFill>
              </a:rPr>
              <a:t>▶ Executing...</a:t>
            </a:r>
          </a:p>
        </p:txBody>
      </p:sp>
      <p:sp>
        <p:nvSpPr>
          <p:cNvPr id="13" name="Rectangle 12"/>
          <p:cNvSpPr/>
          <p:nvPr/>
        </p:nvSpPr>
        <p:spPr>
          <a:xfrm>
            <a:off x="402336" y="2377439"/>
            <a:ext cx="1143000" cy="457200"/>
          </a:xfrm>
          <a:prstGeom prst="rect">
            <a:avLst/>
          </a:prstGeom>
          <a:solidFill>
            <a:srgbClr val="556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2432303"/>
            <a:ext cx="1143000" cy="347472"/>
          </a:xfrm>
          <a:prstGeom prst="rect">
            <a:avLst/>
          </a:prstGeom>
          <a:noFill/>
        </p:spPr>
        <p:txBody>
          <a:bodyPr wrap="square">
            <a:spAutoFit/>
          </a:bodyPr>
          <a:lstStyle/>
          <a:p>
            <a:pPr algn="ctr"/>
            <a:r>
              <a:rPr sz="1000" b="1" i="0">
                <a:solidFill>
                  <a:srgbClr val="FFFFFF"/>
                </a:solidFill>
              </a:rPr>
              <a:t>Fixture Job</a:t>
            </a:r>
          </a:p>
        </p:txBody>
      </p:sp>
      <p:sp>
        <p:nvSpPr>
          <p:cNvPr id="15" name="Rectangle 14"/>
          <p:cNvSpPr/>
          <p:nvPr/>
        </p:nvSpPr>
        <p:spPr>
          <a:xfrm>
            <a:off x="1627632" y="2377439"/>
            <a:ext cx="2011680" cy="457200"/>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64208" y="2468879"/>
            <a:ext cx="1938528" cy="274320"/>
          </a:xfrm>
          <a:prstGeom prst="rect">
            <a:avLst/>
          </a:prstGeom>
          <a:noFill/>
        </p:spPr>
        <p:txBody>
          <a:bodyPr wrap="square">
            <a:spAutoFit/>
          </a:bodyPr>
          <a:lstStyle/>
          <a:p>
            <a:pPr algn="l"/>
            <a:r>
              <a:rPr sz="900" b="0" i="0">
                <a:solidFill>
                  <a:srgbClr val="FFFFFF"/>
                </a:solidFill>
              </a:rPr>
              <a:t>⏳ Waiting — branch job still holds the lock</a:t>
            </a:r>
          </a:p>
        </p:txBody>
      </p:sp>
      <p:sp>
        <p:nvSpPr>
          <p:cNvPr id="17" name="Rectangle 16"/>
          <p:cNvSpPr/>
          <p:nvPr/>
        </p:nvSpPr>
        <p:spPr>
          <a:xfrm>
            <a:off x="3703320" y="2377439"/>
            <a:ext cx="2953512" cy="45720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39896" y="2468879"/>
            <a:ext cx="2880360" cy="274320"/>
          </a:xfrm>
          <a:prstGeom prst="rect">
            <a:avLst/>
          </a:prstGeom>
          <a:noFill/>
        </p:spPr>
        <p:txBody>
          <a:bodyPr wrap="square">
            <a:spAutoFit/>
          </a:bodyPr>
          <a:lstStyle/>
          <a:p>
            <a:pPr algn="l"/>
            <a:r>
              <a:rPr sz="900" b="0" i="0">
                <a:solidFill>
                  <a:srgbClr val="FFFFFF"/>
                </a:solidFill>
              </a:rPr>
              <a:t>✓ Lock acquired — running now</a:t>
            </a:r>
          </a:p>
        </p:txBody>
      </p:sp>
      <p:sp>
        <p:nvSpPr>
          <p:cNvPr id="19" name="Rectangle 18"/>
          <p:cNvSpPr/>
          <p:nvPr/>
        </p:nvSpPr>
        <p:spPr>
          <a:xfrm>
            <a:off x="402336" y="3090672"/>
            <a:ext cx="11430000" cy="32004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108960"/>
            <a:ext cx="11064240" cy="274320"/>
          </a:xfrm>
          <a:prstGeom prst="rect">
            <a:avLst/>
          </a:prstGeom>
          <a:noFill/>
        </p:spPr>
        <p:txBody>
          <a:bodyPr wrap="square">
            <a:spAutoFit/>
          </a:bodyPr>
          <a:lstStyle/>
          <a:p>
            <a:pPr algn="l"/>
            <a:r>
              <a:rPr sz="1000" b="0" i="1">
                <a:solidFill>
                  <a:srgbClr val="B0C4DE"/>
                </a:solidFill>
              </a:rPr>
              <a:t>Lock prevents the fixture from starting mid-execution → waits until branch job releases the lock → then runs safely.</a:t>
            </a:r>
          </a:p>
        </p:txBody>
      </p:sp>
      <p:sp>
        <p:nvSpPr>
          <p:cNvPr id="21" name="Rectangle 20"/>
          <p:cNvSpPr/>
          <p:nvPr/>
        </p:nvSpPr>
        <p:spPr>
          <a:xfrm>
            <a:off x="320040" y="3840480"/>
            <a:ext cx="11521440" cy="233172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3840480"/>
            <a:ext cx="82296" cy="2331720"/>
          </a:xfrm>
          <a:prstGeom prst="rect">
            <a:avLst/>
          </a:prstGeom>
          <a:solidFill>
            <a:srgbClr val="EF47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2336" y="3840480"/>
            <a:ext cx="11439144" cy="438912"/>
          </a:xfrm>
          <a:prstGeom prst="rect">
            <a:avLst/>
          </a:prstGeom>
          <a:solidFill>
            <a:srgbClr val="0D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3913632"/>
            <a:ext cx="10515600" cy="320040"/>
          </a:xfrm>
          <a:prstGeom prst="rect">
            <a:avLst/>
          </a:prstGeom>
          <a:noFill/>
        </p:spPr>
        <p:txBody>
          <a:bodyPr wrap="square">
            <a:spAutoFit/>
          </a:bodyPr>
          <a:lstStyle/>
          <a:p>
            <a:pPr algn="l"/>
            <a:r>
              <a:rPr sz="1300" b="1" i="0">
                <a:solidFill>
                  <a:srgbClr val="EF476F"/>
                </a:solidFill>
              </a:rPr>
              <a:t>SCENARIO 5 — Branch job triggered while fixture is running</a:t>
            </a:r>
          </a:p>
        </p:txBody>
      </p:sp>
      <p:sp>
        <p:nvSpPr>
          <p:cNvPr id="25" name="Rectangle 24"/>
          <p:cNvSpPr/>
          <p:nvPr/>
        </p:nvSpPr>
        <p:spPr>
          <a:xfrm>
            <a:off x="402336" y="4370832"/>
            <a:ext cx="1143000" cy="457200"/>
          </a:xfrm>
          <a:prstGeom prst="rect">
            <a:avLst/>
          </a:prstGeom>
          <a:solidFill>
            <a:srgbClr val="556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2336" y="4425696"/>
            <a:ext cx="1143000" cy="347472"/>
          </a:xfrm>
          <a:prstGeom prst="rect">
            <a:avLst/>
          </a:prstGeom>
          <a:noFill/>
        </p:spPr>
        <p:txBody>
          <a:bodyPr wrap="square">
            <a:spAutoFit/>
          </a:bodyPr>
          <a:lstStyle/>
          <a:p>
            <a:pPr algn="ctr"/>
            <a:r>
              <a:rPr sz="1000" b="1" i="0">
                <a:solidFill>
                  <a:srgbClr val="FFFFFF"/>
                </a:solidFill>
              </a:rPr>
              <a:t>Fixture Job</a:t>
            </a:r>
          </a:p>
        </p:txBody>
      </p:sp>
      <p:sp>
        <p:nvSpPr>
          <p:cNvPr id="27" name="Rectangle 26"/>
          <p:cNvSpPr/>
          <p:nvPr/>
        </p:nvSpPr>
        <p:spPr>
          <a:xfrm>
            <a:off x="1627632" y="4370832"/>
            <a:ext cx="5029200" cy="45720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64208" y="4462272"/>
            <a:ext cx="4956048" cy="274320"/>
          </a:xfrm>
          <a:prstGeom prst="rect">
            <a:avLst/>
          </a:prstGeom>
          <a:noFill/>
        </p:spPr>
        <p:txBody>
          <a:bodyPr wrap="square">
            <a:spAutoFit/>
          </a:bodyPr>
          <a:lstStyle/>
          <a:p>
            <a:pPr algn="l"/>
            <a:r>
              <a:rPr sz="900" b="0" i="0">
                <a:solidFill>
                  <a:srgbClr val="FFFFFF"/>
                </a:solidFill>
              </a:rPr>
              <a:t>▶ Executing — holds the lock</a:t>
            </a:r>
          </a:p>
        </p:txBody>
      </p:sp>
      <p:sp>
        <p:nvSpPr>
          <p:cNvPr id="29" name="Rectangle 28"/>
          <p:cNvSpPr/>
          <p:nvPr/>
        </p:nvSpPr>
        <p:spPr>
          <a:xfrm>
            <a:off x="402336" y="5029200"/>
            <a:ext cx="1143000" cy="457200"/>
          </a:xfrm>
          <a:prstGeom prst="rect">
            <a:avLst/>
          </a:prstGeom>
          <a:solidFill>
            <a:srgbClr val="556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5084064"/>
            <a:ext cx="1143000" cy="347472"/>
          </a:xfrm>
          <a:prstGeom prst="rect">
            <a:avLst/>
          </a:prstGeom>
          <a:noFill/>
        </p:spPr>
        <p:txBody>
          <a:bodyPr wrap="square">
            <a:spAutoFit/>
          </a:bodyPr>
          <a:lstStyle/>
          <a:p>
            <a:pPr algn="ctr"/>
            <a:r>
              <a:rPr sz="1000" b="1" i="0">
                <a:solidFill>
                  <a:srgbClr val="FFFFFF"/>
                </a:solidFill>
              </a:rPr>
              <a:t>Branch Job</a:t>
            </a:r>
          </a:p>
        </p:txBody>
      </p:sp>
      <p:sp>
        <p:nvSpPr>
          <p:cNvPr id="31" name="Rectangle 30"/>
          <p:cNvSpPr/>
          <p:nvPr/>
        </p:nvSpPr>
        <p:spPr>
          <a:xfrm>
            <a:off x="1627632" y="5029200"/>
            <a:ext cx="2011680" cy="457200"/>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64208" y="5120640"/>
            <a:ext cx="1938528" cy="274320"/>
          </a:xfrm>
          <a:prstGeom prst="rect">
            <a:avLst/>
          </a:prstGeom>
          <a:noFill/>
        </p:spPr>
        <p:txBody>
          <a:bodyPr wrap="square">
            <a:spAutoFit/>
          </a:bodyPr>
          <a:lstStyle/>
          <a:p>
            <a:pPr algn="l"/>
            <a:r>
              <a:rPr sz="900" b="0" i="0">
                <a:solidFill>
                  <a:srgbClr val="FFFFFF"/>
                </a:solidFill>
              </a:rPr>
              <a:t>⏳ Waiting — fixture holds the lock</a:t>
            </a:r>
          </a:p>
        </p:txBody>
      </p:sp>
      <p:sp>
        <p:nvSpPr>
          <p:cNvPr id="33" name="Rectangle 32"/>
          <p:cNvSpPr/>
          <p:nvPr/>
        </p:nvSpPr>
        <p:spPr>
          <a:xfrm>
            <a:off x="3703320" y="5029200"/>
            <a:ext cx="2953512" cy="457200"/>
          </a:xfrm>
          <a:prstGeom prst="rect">
            <a:avLst/>
          </a:prstGeom>
          <a:solidFill>
            <a:srgbClr val="1A6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39896" y="5120640"/>
            <a:ext cx="2880360" cy="274320"/>
          </a:xfrm>
          <a:prstGeom prst="rect">
            <a:avLst/>
          </a:prstGeom>
          <a:noFill/>
        </p:spPr>
        <p:txBody>
          <a:bodyPr wrap="square">
            <a:spAutoFit/>
          </a:bodyPr>
          <a:lstStyle/>
          <a:p>
            <a:pPr algn="l"/>
            <a:r>
              <a:rPr sz="900" b="0" i="0">
                <a:solidFill>
                  <a:srgbClr val="FFFFFF"/>
                </a:solidFill>
              </a:rPr>
              <a:t>✓ Lock acquired — running now</a:t>
            </a:r>
          </a:p>
        </p:txBody>
      </p:sp>
      <p:sp>
        <p:nvSpPr>
          <p:cNvPr id="35" name="Rectangle 34"/>
          <p:cNvSpPr/>
          <p:nvPr/>
        </p:nvSpPr>
        <p:spPr>
          <a:xfrm>
            <a:off x="402336" y="5742432"/>
            <a:ext cx="11430000" cy="32004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5760720"/>
            <a:ext cx="11064240" cy="274320"/>
          </a:xfrm>
          <a:prstGeom prst="rect">
            <a:avLst/>
          </a:prstGeom>
          <a:noFill/>
        </p:spPr>
        <p:txBody>
          <a:bodyPr wrap="square">
            <a:spAutoFit/>
          </a:bodyPr>
          <a:lstStyle/>
          <a:p>
            <a:pPr algn="l"/>
            <a:r>
              <a:rPr sz="1000" b="0" i="1">
                <a:solidFill>
                  <a:srgbClr val="B0C4DE"/>
                </a:solidFill>
              </a:rPr>
              <a:t>Lock prevents the branch job from starting mid-fixture → queues until fixture releases the lock → then runs safely.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428"/>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66928"/>
          </a:xfrm>
          <a:prstGeom prst="rect">
            <a:avLst/>
          </a:prstGeom>
          <a:noFill/>
        </p:spPr>
        <p:txBody>
          <a:bodyPr wrap="square">
            <a:spAutoFit/>
          </a:bodyPr>
          <a:lstStyle/>
          <a:p>
            <a:pPr algn="l"/>
            <a:r>
              <a:rPr sz="2800" b="1" i="0">
                <a:solidFill>
                  <a:srgbClr val="FFFFFF"/>
                </a:solidFill>
              </a:rPr>
              <a:t>Manual Execution Scenarios</a:t>
            </a:r>
          </a:p>
        </p:txBody>
      </p:sp>
      <p:sp>
        <p:nvSpPr>
          <p:cNvPr id="4" name="TextBox 3"/>
          <p:cNvSpPr txBox="1"/>
          <p:nvPr/>
        </p:nvSpPr>
        <p:spPr>
          <a:xfrm>
            <a:off x="457200" y="704088"/>
            <a:ext cx="10972800" cy="347472"/>
          </a:xfrm>
          <a:prstGeom prst="rect">
            <a:avLst/>
          </a:prstGeom>
          <a:noFill/>
        </p:spPr>
        <p:txBody>
          <a:bodyPr wrap="square">
            <a:spAutoFit/>
          </a:bodyPr>
          <a:lstStyle/>
          <a:p>
            <a:pPr algn="l"/>
            <a:r>
              <a:rPr sz="1400" b="0" i="0">
                <a:solidFill>
                  <a:srgbClr val="B0C4DE"/>
                </a:solidFill>
              </a:rPr>
              <a:t>Scenarios 1 &amp; 2 — what happens when a user manually triggers a single job</a:t>
            </a:r>
          </a:p>
        </p:txBody>
      </p:sp>
      <p:sp>
        <p:nvSpPr>
          <p:cNvPr id="5" name="Rectangle 4"/>
          <p:cNvSpPr/>
          <p:nvPr/>
        </p:nvSpPr>
        <p:spPr>
          <a:xfrm>
            <a:off x="320040" y="1261872"/>
            <a:ext cx="5532120" cy="5193792"/>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61872"/>
            <a:ext cx="82296" cy="5193792"/>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2336" y="1261872"/>
            <a:ext cx="5449824" cy="457200"/>
          </a:xfrm>
          <a:prstGeom prst="rect">
            <a:avLst/>
          </a:prstGeom>
          <a:solidFill>
            <a:srgbClr val="042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307592"/>
            <a:ext cx="5212080" cy="365760"/>
          </a:xfrm>
          <a:prstGeom prst="rect">
            <a:avLst/>
          </a:prstGeom>
          <a:noFill/>
        </p:spPr>
        <p:txBody>
          <a:bodyPr wrap="square">
            <a:spAutoFit/>
          </a:bodyPr>
          <a:lstStyle/>
          <a:p>
            <a:pPr algn="l"/>
            <a:r>
              <a:rPr sz="1200" b="1" i="0">
                <a:solidFill>
                  <a:srgbClr val="06D68A"/>
                </a:solidFill>
              </a:rPr>
              <a:t>SCENARIO 1  —  User manually runs one branch job</a:t>
            </a:r>
          </a:p>
        </p:txBody>
      </p:sp>
      <p:sp>
        <p:nvSpPr>
          <p:cNvPr id="9" name="TextBox 8"/>
          <p:cNvSpPr txBox="1"/>
          <p:nvPr/>
        </p:nvSpPr>
        <p:spPr>
          <a:xfrm>
            <a:off x="502920" y="1828800"/>
            <a:ext cx="5212080" cy="822960"/>
          </a:xfrm>
          <a:prstGeom prst="rect">
            <a:avLst/>
          </a:prstGeom>
          <a:noFill/>
        </p:spPr>
        <p:txBody>
          <a:bodyPr wrap="square">
            <a:spAutoFit/>
          </a:bodyPr>
          <a:lstStyle/>
          <a:p>
            <a:pPr algn="l"/>
            <a:r>
              <a:rPr sz="1800" b="1" i="0">
                <a:solidFill>
                  <a:srgbClr val="FFFFFF"/>
                </a:solidFill>
              </a:rPr>
              <a:t>User Manually Triggers
One Branch Job</a:t>
            </a:r>
          </a:p>
        </p:txBody>
      </p:sp>
      <p:sp>
        <p:nvSpPr>
          <p:cNvPr id="10" name="Rectangle 9"/>
          <p:cNvSpPr/>
          <p:nvPr/>
        </p:nvSpPr>
        <p:spPr>
          <a:xfrm>
            <a:off x="502920" y="2761488"/>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843784"/>
            <a:ext cx="4937760" cy="320040"/>
          </a:xfrm>
          <a:prstGeom prst="rect">
            <a:avLst/>
          </a:prstGeom>
          <a:noFill/>
        </p:spPr>
        <p:txBody>
          <a:bodyPr wrap="square">
            <a:spAutoFit/>
          </a:bodyPr>
          <a:lstStyle/>
          <a:p>
            <a:pPr algn="l"/>
            <a:r>
              <a:rPr sz="1100" b="0" i="0">
                <a:solidFill>
                  <a:srgbClr val="B0C4DE"/>
                </a:solidFill>
              </a:rPr>
              <a:t>① Branch job starts and acquires the lock</a:t>
            </a:r>
          </a:p>
        </p:txBody>
      </p:sp>
      <p:sp>
        <p:nvSpPr>
          <p:cNvPr id="12" name="Rectangle 11"/>
          <p:cNvSpPr/>
          <p:nvPr/>
        </p:nvSpPr>
        <p:spPr>
          <a:xfrm>
            <a:off x="502920" y="3328416"/>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410712"/>
            <a:ext cx="4937760" cy="320040"/>
          </a:xfrm>
          <a:prstGeom prst="rect">
            <a:avLst/>
          </a:prstGeom>
          <a:noFill/>
        </p:spPr>
        <p:txBody>
          <a:bodyPr wrap="square">
            <a:spAutoFit/>
          </a:bodyPr>
          <a:lstStyle/>
          <a:p>
            <a:pPr algn="l"/>
            <a:r>
              <a:rPr sz="1100" b="0" i="0">
                <a:solidFill>
                  <a:srgbClr val="B0C4DE"/>
                </a:solidFill>
              </a:rPr>
              <a:t>② Job executes its full test suite</a:t>
            </a:r>
          </a:p>
        </p:txBody>
      </p:sp>
      <p:sp>
        <p:nvSpPr>
          <p:cNvPr id="14" name="Rectangle 13"/>
          <p:cNvSpPr/>
          <p:nvPr/>
        </p:nvSpPr>
        <p:spPr>
          <a:xfrm>
            <a:off x="502920" y="3895344"/>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77639"/>
            <a:ext cx="4937760" cy="320040"/>
          </a:xfrm>
          <a:prstGeom prst="rect">
            <a:avLst/>
          </a:prstGeom>
          <a:noFill/>
        </p:spPr>
        <p:txBody>
          <a:bodyPr wrap="square">
            <a:spAutoFit/>
          </a:bodyPr>
          <a:lstStyle/>
          <a:p>
            <a:pPr algn="l"/>
            <a:r>
              <a:rPr sz="1100" b="0" i="0">
                <a:solidFill>
                  <a:srgbClr val="B0C4DE"/>
                </a:solidFill>
              </a:rPr>
              <a:t>③ On completion, fixture job is automatically triggered</a:t>
            </a:r>
          </a:p>
        </p:txBody>
      </p:sp>
      <p:sp>
        <p:nvSpPr>
          <p:cNvPr id="16" name="Rectangle 15"/>
          <p:cNvSpPr/>
          <p:nvPr/>
        </p:nvSpPr>
        <p:spPr>
          <a:xfrm>
            <a:off x="502920" y="4462272"/>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544568"/>
            <a:ext cx="4937760" cy="320040"/>
          </a:xfrm>
          <a:prstGeom prst="rect">
            <a:avLst/>
          </a:prstGeom>
          <a:noFill/>
        </p:spPr>
        <p:txBody>
          <a:bodyPr wrap="square">
            <a:spAutoFit/>
          </a:bodyPr>
          <a:lstStyle/>
          <a:p>
            <a:pPr algn="l"/>
            <a:r>
              <a:rPr sz="1100" b="0" i="0">
                <a:solidFill>
                  <a:srgbClr val="B0C4DE"/>
                </a:solidFill>
              </a:rPr>
              <a:t>④ Fixture acquires the lock and runs teardown</a:t>
            </a:r>
          </a:p>
        </p:txBody>
      </p:sp>
      <p:sp>
        <p:nvSpPr>
          <p:cNvPr id="18" name="Rectangle 17"/>
          <p:cNvSpPr/>
          <p:nvPr/>
        </p:nvSpPr>
        <p:spPr>
          <a:xfrm>
            <a:off x="502920" y="5029200"/>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111496"/>
            <a:ext cx="4937760" cy="320040"/>
          </a:xfrm>
          <a:prstGeom prst="rect">
            <a:avLst/>
          </a:prstGeom>
          <a:noFill/>
        </p:spPr>
        <p:txBody>
          <a:bodyPr wrap="square">
            <a:spAutoFit/>
          </a:bodyPr>
          <a:lstStyle/>
          <a:p>
            <a:pPr algn="l"/>
            <a:r>
              <a:rPr sz="1100" b="0" i="0">
                <a:solidFill>
                  <a:srgbClr val="B0C4DE"/>
                </a:solidFill>
              </a:rPr>
              <a:t>⑤ Lock is released; pipeline complete</a:t>
            </a:r>
          </a:p>
        </p:txBody>
      </p:sp>
      <p:sp>
        <p:nvSpPr>
          <p:cNvPr id="20" name="Rectangle 19"/>
          <p:cNvSpPr/>
          <p:nvPr/>
        </p:nvSpPr>
        <p:spPr>
          <a:xfrm>
            <a:off x="502920" y="5650992"/>
            <a:ext cx="5166360" cy="438912"/>
          </a:xfrm>
          <a:prstGeom prst="rect">
            <a:avLst/>
          </a:prstGeom>
          <a:solidFill>
            <a:srgbClr val="043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687568"/>
            <a:ext cx="5166360" cy="347472"/>
          </a:xfrm>
          <a:prstGeom prst="rect">
            <a:avLst/>
          </a:prstGeom>
          <a:noFill/>
        </p:spPr>
        <p:txBody>
          <a:bodyPr wrap="square">
            <a:spAutoFit/>
          </a:bodyPr>
          <a:lstStyle/>
          <a:p>
            <a:pPr algn="ctr"/>
            <a:r>
              <a:rPr sz="1100" b="1" i="0">
                <a:solidFill>
                  <a:srgbClr val="06D68A"/>
                </a:solidFill>
              </a:rPr>
              <a:t>✓ Fixture: YES     ✓ Lock Protects: YES</a:t>
            </a:r>
          </a:p>
        </p:txBody>
      </p:sp>
      <p:sp>
        <p:nvSpPr>
          <p:cNvPr id="22" name="Rectangle 21"/>
          <p:cNvSpPr/>
          <p:nvPr/>
        </p:nvSpPr>
        <p:spPr>
          <a:xfrm>
            <a:off x="6336792" y="1261872"/>
            <a:ext cx="5532120" cy="5193792"/>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36792" y="1261872"/>
            <a:ext cx="82296" cy="5193792"/>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19088" y="1261872"/>
            <a:ext cx="5449824" cy="457200"/>
          </a:xfrm>
          <a:prstGeom prst="rect">
            <a:avLst/>
          </a:prstGeom>
          <a:solidFill>
            <a:srgbClr val="381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1307592"/>
            <a:ext cx="5212080" cy="365760"/>
          </a:xfrm>
          <a:prstGeom prst="rect">
            <a:avLst/>
          </a:prstGeom>
          <a:noFill/>
        </p:spPr>
        <p:txBody>
          <a:bodyPr wrap="square">
            <a:spAutoFit/>
          </a:bodyPr>
          <a:lstStyle/>
          <a:p>
            <a:pPr algn="l"/>
            <a:r>
              <a:rPr sz="1200" b="1" i="0">
                <a:solidFill>
                  <a:srgbClr val="FF9530"/>
                </a:solidFill>
              </a:rPr>
              <a:t>SCENARIO 2  —  User manually runs the fixture job</a:t>
            </a:r>
          </a:p>
        </p:txBody>
      </p:sp>
      <p:sp>
        <p:nvSpPr>
          <p:cNvPr id="26" name="TextBox 25"/>
          <p:cNvSpPr txBox="1"/>
          <p:nvPr/>
        </p:nvSpPr>
        <p:spPr>
          <a:xfrm>
            <a:off x="6492240" y="1828800"/>
            <a:ext cx="5212080" cy="822960"/>
          </a:xfrm>
          <a:prstGeom prst="rect">
            <a:avLst/>
          </a:prstGeom>
          <a:noFill/>
        </p:spPr>
        <p:txBody>
          <a:bodyPr wrap="square">
            <a:spAutoFit/>
          </a:bodyPr>
          <a:lstStyle/>
          <a:p>
            <a:pPr algn="l"/>
            <a:r>
              <a:rPr sz="1800" b="1" i="0">
                <a:solidFill>
                  <a:srgbClr val="FFFFFF"/>
                </a:solidFill>
              </a:rPr>
              <a:t>User Manually Triggers
Fixture Job Directly</a:t>
            </a:r>
          </a:p>
        </p:txBody>
      </p:sp>
      <p:sp>
        <p:nvSpPr>
          <p:cNvPr id="27" name="Rectangle 26"/>
          <p:cNvSpPr/>
          <p:nvPr/>
        </p:nvSpPr>
        <p:spPr>
          <a:xfrm>
            <a:off x="6492240" y="2761488"/>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2843784"/>
            <a:ext cx="4937760" cy="320040"/>
          </a:xfrm>
          <a:prstGeom prst="rect">
            <a:avLst/>
          </a:prstGeom>
          <a:noFill/>
        </p:spPr>
        <p:txBody>
          <a:bodyPr wrap="square">
            <a:spAutoFit/>
          </a:bodyPr>
          <a:lstStyle/>
          <a:p>
            <a:pPr algn="l"/>
            <a:r>
              <a:rPr sz="1100" b="0" i="0">
                <a:solidFill>
                  <a:srgbClr val="B0C4DE"/>
                </a:solidFill>
              </a:rPr>
              <a:t>① User triggers the fixture job directly</a:t>
            </a:r>
          </a:p>
        </p:txBody>
      </p:sp>
      <p:sp>
        <p:nvSpPr>
          <p:cNvPr id="29" name="Rectangle 28"/>
          <p:cNvSpPr/>
          <p:nvPr/>
        </p:nvSpPr>
        <p:spPr>
          <a:xfrm>
            <a:off x="6492240" y="3328416"/>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3410712"/>
            <a:ext cx="4937760" cy="320040"/>
          </a:xfrm>
          <a:prstGeom prst="rect">
            <a:avLst/>
          </a:prstGeom>
          <a:noFill/>
        </p:spPr>
        <p:txBody>
          <a:bodyPr wrap="square">
            <a:spAutoFit/>
          </a:bodyPr>
          <a:lstStyle/>
          <a:p>
            <a:pPr algn="l"/>
            <a:r>
              <a:rPr sz="1100" b="0" i="0">
                <a:solidFill>
                  <a:srgbClr val="B0C4DE"/>
                </a:solidFill>
              </a:rPr>
              <a:t>② Fixture acquires the lock and runs</a:t>
            </a:r>
          </a:p>
        </p:txBody>
      </p:sp>
      <p:sp>
        <p:nvSpPr>
          <p:cNvPr id="31" name="Rectangle 30"/>
          <p:cNvSpPr/>
          <p:nvPr/>
        </p:nvSpPr>
        <p:spPr>
          <a:xfrm>
            <a:off x="6492240" y="3895344"/>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3977639"/>
            <a:ext cx="4937760" cy="320040"/>
          </a:xfrm>
          <a:prstGeom prst="rect">
            <a:avLst/>
          </a:prstGeom>
          <a:noFill/>
        </p:spPr>
        <p:txBody>
          <a:bodyPr wrap="square">
            <a:spAutoFit/>
          </a:bodyPr>
          <a:lstStyle/>
          <a:p>
            <a:pPr algn="l"/>
            <a:r>
              <a:rPr sz="1100" b="0" i="0">
                <a:solidFill>
                  <a:srgbClr val="B0C4DE"/>
                </a:solidFill>
              </a:rPr>
              <a:t>③ No recursive self-trigger — avoids infinite loop</a:t>
            </a:r>
          </a:p>
        </p:txBody>
      </p:sp>
      <p:sp>
        <p:nvSpPr>
          <p:cNvPr id="33" name="Rectangle 32"/>
          <p:cNvSpPr/>
          <p:nvPr/>
        </p:nvSpPr>
        <p:spPr>
          <a:xfrm>
            <a:off x="6492240" y="4462272"/>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4544568"/>
            <a:ext cx="4937760" cy="320040"/>
          </a:xfrm>
          <a:prstGeom prst="rect">
            <a:avLst/>
          </a:prstGeom>
          <a:noFill/>
        </p:spPr>
        <p:txBody>
          <a:bodyPr wrap="square">
            <a:spAutoFit/>
          </a:bodyPr>
          <a:lstStyle/>
          <a:p>
            <a:pPr algn="l"/>
            <a:r>
              <a:rPr sz="1100" b="0" i="0">
                <a:solidFill>
                  <a:srgbClr val="B0C4DE"/>
                </a:solidFill>
              </a:rPr>
              <a:t>④ Fixture does NOT re-trigger itself on completion</a:t>
            </a:r>
          </a:p>
        </p:txBody>
      </p:sp>
      <p:sp>
        <p:nvSpPr>
          <p:cNvPr id="35" name="Rectangle 34"/>
          <p:cNvSpPr/>
          <p:nvPr/>
        </p:nvSpPr>
        <p:spPr>
          <a:xfrm>
            <a:off x="6492240" y="5029200"/>
            <a:ext cx="5166360" cy="47548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5111496"/>
            <a:ext cx="4937760" cy="320040"/>
          </a:xfrm>
          <a:prstGeom prst="rect">
            <a:avLst/>
          </a:prstGeom>
          <a:noFill/>
        </p:spPr>
        <p:txBody>
          <a:bodyPr wrap="square">
            <a:spAutoFit/>
          </a:bodyPr>
          <a:lstStyle/>
          <a:p>
            <a:pPr algn="l"/>
            <a:r>
              <a:rPr sz="1100" b="0" i="0">
                <a:solidFill>
                  <a:srgbClr val="B0C4DE"/>
                </a:solidFill>
              </a:rPr>
              <a:t>⑤ Lock prevents any branch job from colliding</a:t>
            </a:r>
          </a:p>
        </p:txBody>
      </p:sp>
      <p:sp>
        <p:nvSpPr>
          <p:cNvPr id="37" name="Rectangle 36"/>
          <p:cNvSpPr/>
          <p:nvPr/>
        </p:nvSpPr>
        <p:spPr>
          <a:xfrm>
            <a:off x="6492240" y="5650992"/>
            <a:ext cx="5166360" cy="438912"/>
          </a:xfrm>
          <a:prstGeom prst="rect">
            <a:avLst/>
          </a:prstGeom>
          <a:solidFill>
            <a:srgbClr val="382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0" y="5687568"/>
            <a:ext cx="5166360" cy="347472"/>
          </a:xfrm>
          <a:prstGeom prst="rect">
            <a:avLst/>
          </a:prstGeom>
          <a:noFill/>
        </p:spPr>
        <p:txBody>
          <a:bodyPr wrap="square">
            <a:spAutoFit/>
          </a:bodyPr>
          <a:lstStyle/>
          <a:p>
            <a:pPr algn="ctr"/>
            <a:r>
              <a:rPr sz="1100" b="1" i="0">
                <a:solidFill>
                  <a:srgbClr val="FF9530"/>
                </a:solidFill>
              </a:rPr>
              <a:t>✓ No Recursive Trigger     ✓ Lock Protects: YES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428"/>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566928"/>
          </a:xfrm>
          <a:prstGeom prst="rect">
            <a:avLst/>
          </a:prstGeom>
          <a:noFill/>
        </p:spPr>
        <p:txBody>
          <a:bodyPr wrap="square">
            <a:spAutoFit/>
          </a:bodyPr>
          <a:lstStyle/>
          <a:p>
            <a:pPr algn="l"/>
            <a:r>
              <a:rPr sz="3000" b="1" i="0">
                <a:solidFill>
                  <a:srgbClr val="FFFFFF"/>
                </a:solidFill>
              </a:rPr>
              <a:t>Summary &amp; Key Takeaways</a:t>
            </a:r>
          </a:p>
        </p:txBody>
      </p:sp>
      <p:sp>
        <p:nvSpPr>
          <p:cNvPr id="5" name="Rectangle 4"/>
          <p:cNvSpPr/>
          <p:nvPr/>
        </p:nvSpPr>
        <p:spPr>
          <a:xfrm>
            <a:off x="347472" y="960120"/>
            <a:ext cx="7040880" cy="45720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79792" y="960120"/>
            <a:ext cx="2286000" cy="45720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57232" y="960120"/>
            <a:ext cx="1993392" cy="45720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33272"/>
            <a:ext cx="6858000" cy="320040"/>
          </a:xfrm>
          <a:prstGeom prst="rect">
            <a:avLst/>
          </a:prstGeom>
          <a:noFill/>
        </p:spPr>
        <p:txBody>
          <a:bodyPr wrap="square">
            <a:spAutoFit/>
          </a:bodyPr>
          <a:lstStyle/>
          <a:p>
            <a:pPr algn="l"/>
            <a:r>
              <a:rPr sz="1200" b="1" i="0">
                <a:solidFill>
                  <a:srgbClr val="0E1428"/>
                </a:solidFill>
              </a:rPr>
              <a:t>Scenario</a:t>
            </a:r>
          </a:p>
        </p:txBody>
      </p:sp>
      <p:sp>
        <p:nvSpPr>
          <p:cNvPr id="9" name="TextBox 8"/>
          <p:cNvSpPr txBox="1"/>
          <p:nvPr/>
        </p:nvSpPr>
        <p:spPr>
          <a:xfrm>
            <a:off x="7498079" y="1033272"/>
            <a:ext cx="2194560" cy="320040"/>
          </a:xfrm>
          <a:prstGeom prst="rect">
            <a:avLst/>
          </a:prstGeom>
          <a:noFill/>
        </p:spPr>
        <p:txBody>
          <a:bodyPr wrap="square">
            <a:spAutoFit/>
          </a:bodyPr>
          <a:lstStyle/>
          <a:p>
            <a:pPr algn="ctr"/>
            <a:r>
              <a:rPr sz="1200" b="1" i="0">
                <a:solidFill>
                  <a:srgbClr val="0E1428"/>
                </a:solidFill>
              </a:rPr>
              <a:t>Fixture Trigger</a:t>
            </a:r>
          </a:p>
        </p:txBody>
      </p:sp>
      <p:sp>
        <p:nvSpPr>
          <p:cNvPr id="10" name="TextBox 9"/>
          <p:cNvSpPr txBox="1"/>
          <p:nvPr/>
        </p:nvSpPr>
        <p:spPr>
          <a:xfrm>
            <a:off x="9875520" y="1033272"/>
            <a:ext cx="1920240" cy="320040"/>
          </a:xfrm>
          <a:prstGeom prst="rect">
            <a:avLst/>
          </a:prstGeom>
          <a:noFill/>
        </p:spPr>
        <p:txBody>
          <a:bodyPr wrap="square">
            <a:spAutoFit/>
          </a:bodyPr>
          <a:lstStyle/>
          <a:p>
            <a:pPr algn="ctr"/>
            <a:r>
              <a:rPr sz="1200" b="1" i="0">
                <a:solidFill>
                  <a:srgbClr val="0E1428"/>
                </a:solidFill>
              </a:rPr>
              <a:t>Lock Protects</a:t>
            </a:r>
          </a:p>
        </p:txBody>
      </p:sp>
      <p:sp>
        <p:nvSpPr>
          <p:cNvPr id="11" name="Rectangle 10"/>
          <p:cNvSpPr/>
          <p:nvPr/>
        </p:nvSpPr>
        <p:spPr>
          <a:xfrm>
            <a:off x="347472" y="1508760"/>
            <a:ext cx="7040880"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79792" y="1508760"/>
            <a:ext cx="2286000"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857232" y="1508760"/>
            <a:ext cx="1993392"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 y="1508760"/>
            <a:ext cx="73152" cy="56692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618488"/>
            <a:ext cx="6812280" cy="347472"/>
          </a:xfrm>
          <a:prstGeom prst="rect">
            <a:avLst/>
          </a:prstGeom>
          <a:noFill/>
        </p:spPr>
        <p:txBody>
          <a:bodyPr wrap="square">
            <a:spAutoFit/>
          </a:bodyPr>
          <a:lstStyle/>
          <a:p>
            <a:pPr algn="l"/>
            <a:r>
              <a:rPr sz="1100" b="0" i="0">
                <a:solidFill>
                  <a:srgbClr val="B0C4DE"/>
                </a:solidFill>
              </a:rPr>
              <a:t>1. User manually runs one branch job</a:t>
            </a:r>
          </a:p>
        </p:txBody>
      </p:sp>
      <p:sp>
        <p:nvSpPr>
          <p:cNvPr id="16" name="Rectangle 15"/>
          <p:cNvSpPr/>
          <p:nvPr/>
        </p:nvSpPr>
        <p:spPr>
          <a:xfrm>
            <a:off x="7589520" y="1627631"/>
            <a:ext cx="2066543" cy="310896"/>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1627631"/>
            <a:ext cx="2066543" cy="310896"/>
          </a:xfrm>
          <a:prstGeom prst="rect">
            <a:avLst/>
          </a:prstGeom>
          <a:noFill/>
        </p:spPr>
        <p:txBody>
          <a:bodyPr wrap="square">
            <a:spAutoFit/>
          </a:bodyPr>
          <a:lstStyle/>
          <a:p>
            <a:pPr algn="ctr"/>
            <a:r>
              <a:rPr sz="900" b="1" i="0">
                <a:solidFill>
                  <a:srgbClr val="FFFFFF"/>
                </a:solidFill>
              </a:rPr>
              <a:t>Yes</a:t>
            </a:r>
          </a:p>
        </p:txBody>
      </p:sp>
      <p:sp>
        <p:nvSpPr>
          <p:cNvPr id="18" name="Rectangle 17"/>
          <p:cNvSpPr/>
          <p:nvPr/>
        </p:nvSpPr>
        <p:spPr>
          <a:xfrm>
            <a:off x="9948672" y="1627631"/>
            <a:ext cx="1828800" cy="310896"/>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48672" y="1627631"/>
            <a:ext cx="1828800" cy="310896"/>
          </a:xfrm>
          <a:prstGeom prst="rect">
            <a:avLst/>
          </a:prstGeom>
          <a:noFill/>
        </p:spPr>
        <p:txBody>
          <a:bodyPr wrap="square">
            <a:spAutoFit/>
          </a:bodyPr>
          <a:lstStyle/>
          <a:p>
            <a:pPr algn="ctr"/>
            <a:r>
              <a:rPr sz="900" b="1" i="0">
                <a:solidFill>
                  <a:srgbClr val="FFFFFF"/>
                </a:solidFill>
              </a:rPr>
              <a:t>Yes</a:t>
            </a:r>
          </a:p>
        </p:txBody>
      </p:sp>
      <p:sp>
        <p:nvSpPr>
          <p:cNvPr id="20" name="Rectangle 19"/>
          <p:cNvSpPr/>
          <p:nvPr/>
        </p:nvSpPr>
        <p:spPr>
          <a:xfrm>
            <a:off x="347472" y="2112264"/>
            <a:ext cx="7040880" cy="56692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9792" y="2112264"/>
            <a:ext cx="2286000" cy="56692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857232" y="2112264"/>
            <a:ext cx="1993392" cy="56692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7472" y="2112264"/>
            <a:ext cx="73152" cy="56692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221992"/>
            <a:ext cx="6812280" cy="347472"/>
          </a:xfrm>
          <a:prstGeom prst="rect">
            <a:avLst/>
          </a:prstGeom>
          <a:noFill/>
        </p:spPr>
        <p:txBody>
          <a:bodyPr wrap="square">
            <a:spAutoFit/>
          </a:bodyPr>
          <a:lstStyle/>
          <a:p>
            <a:pPr algn="l"/>
            <a:r>
              <a:rPr sz="1100" b="0" i="0">
                <a:solidFill>
                  <a:srgbClr val="B0C4DE"/>
                </a:solidFill>
              </a:rPr>
              <a:t>2. User manually runs fixture job</a:t>
            </a:r>
          </a:p>
        </p:txBody>
      </p:sp>
      <p:sp>
        <p:nvSpPr>
          <p:cNvPr id="25" name="Rectangle 24"/>
          <p:cNvSpPr/>
          <p:nvPr/>
        </p:nvSpPr>
        <p:spPr>
          <a:xfrm>
            <a:off x="7589520" y="2231136"/>
            <a:ext cx="2066543" cy="310896"/>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0" y="2231136"/>
            <a:ext cx="2066543" cy="310896"/>
          </a:xfrm>
          <a:prstGeom prst="rect">
            <a:avLst/>
          </a:prstGeom>
          <a:noFill/>
        </p:spPr>
        <p:txBody>
          <a:bodyPr wrap="square">
            <a:spAutoFit/>
          </a:bodyPr>
          <a:lstStyle/>
          <a:p>
            <a:pPr algn="ctr"/>
            <a:r>
              <a:rPr sz="900" b="1" i="0">
                <a:solidFill>
                  <a:srgbClr val="FFFFFF"/>
                </a:solidFill>
              </a:rPr>
              <a:t>No recursive trigger</a:t>
            </a:r>
          </a:p>
        </p:txBody>
      </p:sp>
      <p:sp>
        <p:nvSpPr>
          <p:cNvPr id="27" name="Rectangle 26"/>
          <p:cNvSpPr/>
          <p:nvPr/>
        </p:nvSpPr>
        <p:spPr>
          <a:xfrm>
            <a:off x="9948672" y="2231136"/>
            <a:ext cx="1828800" cy="310896"/>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48672" y="2231136"/>
            <a:ext cx="1828800" cy="310896"/>
          </a:xfrm>
          <a:prstGeom prst="rect">
            <a:avLst/>
          </a:prstGeom>
          <a:noFill/>
        </p:spPr>
        <p:txBody>
          <a:bodyPr wrap="square">
            <a:spAutoFit/>
          </a:bodyPr>
          <a:lstStyle/>
          <a:p>
            <a:pPr algn="ctr"/>
            <a:r>
              <a:rPr sz="900" b="1" i="0">
                <a:solidFill>
                  <a:srgbClr val="FFFFFF"/>
                </a:solidFill>
              </a:rPr>
              <a:t>Yes</a:t>
            </a:r>
          </a:p>
        </p:txBody>
      </p:sp>
      <p:sp>
        <p:nvSpPr>
          <p:cNvPr id="29" name="Rectangle 28"/>
          <p:cNvSpPr/>
          <p:nvPr/>
        </p:nvSpPr>
        <p:spPr>
          <a:xfrm>
            <a:off x="347472" y="2715768"/>
            <a:ext cx="7040880"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79792" y="2715768"/>
            <a:ext cx="2286000"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57232" y="2715768"/>
            <a:ext cx="1993392"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47472" y="2715768"/>
            <a:ext cx="73152" cy="56692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2825496"/>
            <a:ext cx="6812280" cy="347472"/>
          </a:xfrm>
          <a:prstGeom prst="rect">
            <a:avLst/>
          </a:prstGeom>
          <a:noFill/>
        </p:spPr>
        <p:txBody>
          <a:bodyPr wrap="square">
            <a:spAutoFit/>
          </a:bodyPr>
          <a:lstStyle/>
          <a:p>
            <a:pPr algn="l"/>
            <a:r>
              <a:rPr sz="1100" b="1" i="0">
                <a:solidFill>
                  <a:srgbClr val="00C8E0"/>
                </a:solidFill>
              </a:rPr>
              <a:t>3. ALL-SYSTEM-TESTS-PIPELINE — all 11 jobs in parallel</a:t>
            </a:r>
          </a:p>
        </p:txBody>
      </p:sp>
      <p:sp>
        <p:nvSpPr>
          <p:cNvPr id="34" name="Rectangle 33"/>
          <p:cNvSpPr/>
          <p:nvPr/>
        </p:nvSpPr>
        <p:spPr>
          <a:xfrm>
            <a:off x="7589520" y="2834639"/>
            <a:ext cx="2066543" cy="310896"/>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0" y="2834639"/>
            <a:ext cx="2066543" cy="310896"/>
          </a:xfrm>
          <a:prstGeom prst="rect">
            <a:avLst/>
          </a:prstGeom>
          <a:noFill/>
        </p:spPr>
        <p:txBody>
          <a:bodyPr wrap="square">
            <a:spAutoFit/>
          </a:bodyPr>
          <a:lstStyle/>
          <a:p>
            <a:pPr algn="ctr"/>
            <a:r>
              <a:rPr sz="900" b="1" i="0">
                <a:solidFill>
                  <a:srgbClr val="FFFFFF"/>
                </a:solidFill>
              </a:rPr>
              <a:t>Only once at end</a:t>
            </a:r>
          </a:p>
        </p:txBody>
      </p:sp>
      <p:sp>
        <p:nvSpPr>
          <p:cNvPr id="36" name="Rectangle 35"/>
          <p:cNvSpPr/>
          <p:nvPr/>
        </p:nvSpPr>
        <p:spPr>
          <a:xfrm>
            <a:off x="9948672" y="2834639"/>
            <a:ext cx="1828800" cy="310896"/>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48672" y="2834639"/>
            <a:ext cx="1828800" cy="310896"/>
          </a:xfrm>
          <a:prstGeom prst="rect">
            <a:avLst/>
          </a:prstGeom>
          <a:noFill/>
        </p:spPr>
        <p:txBody>
          <a:bodyPr wrap="square">
            <a:spAutoFit/>
          </a:bodyPr>
          <a:lstStyle/>
          <a:p>
            <a:pPr algn="ctr"/>
            <a:r>
              <a:rPr sz="900" b="1" i="0">
                <a:solidFill>
                  <a:srgbClr val="FFFFFF"/>
                </a:solidFill>
              </a:rPr>
              <a:t>Yes</a:t>
            </a:r>
          </a:p>
        </p:txBody>
      </p:sp>
      <p:sp>
        <p:nvSpPr>
          <p:cNvPr id="38" name="Rectangle 37"/>
          <p:cNvSpPr/>
          <p:nvPr/>
        </p:nvSpPr>
        <p:spPr>
          <a:xfrm>
            <a:off x="347472" y="3319272"/>
            <a:ext cx="7040880" cy="56692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79792" y="3319272"/>
            <a:ext cx="2286000" cy="56692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857232" y="3319272"/>
            <a:ext cx="1993392" cy="566928"/>
          </a:xfrm>
          <a:prstGeom prst="rect">
            <a:avLst/>
          </a:prstGeom>
          <a:solidFill>
            <a:srgbClr val="15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47472" y="3319272"/>
            <a:ext cx="73152" cy="56692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3429000"/>
            <a:ext cx="6812280" cy="347472"/>
          </a:xfrm>
          <a:prstGeom prst="rect">
            <a:avLst/>
          </a:prstGeom>
          <a:noFill/>
        </p:spPr>
        <p:txBody>
          <a:bodyPr wrap="square">
            <a:spAutoFit/>
          </a:bodyPr>
          <a:lstStyle/>
          <a:p>
            <a:pPr algn="l"/>
            <a:r>
              <a:rPr sz="1100" b="0" i="0">
                <a:solidFill>
                  <a:srgbClr val="B0C4DE"/>
                </a:solidFill>
              </a:rPr>
              <a:t>4. Fixture triggered while a branch job is still running</a:t>
            </a:r>
          </a:p>
        </p:txBody>
      </p:sp>
      <p:sp>
        <p:nvSpPr>
          <p:cNvPr id="43" name="Rectangle 42"/>
          <p:cNvSpPr/>
          <p:nvPr/>
        </p:nvSpPr>
        <p:spPr>
          <a:xfrm>
            <a:off x="7589520" y="3438144"/>
            <a:ext cx="2066543" cy="310896"/>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89520" y="3438144"/>
            <a:ext cx="2066543" cy="310896"/>
          </a:xfrm>
          <a:prstGeom prst="rect">
            <a:avLst/>
          </a:prstGeom>
          <a:noFill/>
        </p:spPr>
        <p:txBody>
          <a:bodyPr wrap="square">
            <a:spAutoFit/>
          </a:bodyPr>
          <a:lstStyle/>
          <a:p>
            <a:pPr algn="ctr"/>
            <a:r>
              <a:rPr sz="900" b="1" i="0">
                <a:solidFill>
                  <a:srgbClr val="FFFFFF"/>
                </a:solidFill>
              </a:rPr>
              <a:t>Yes, but waits</a:t>
            </a:r>
          </a:p>
        </p:txBody>
      </p:sp>
      <p:sp>
        <p:nvSpPr>
          <p:cNvPr id="45" name="Rectangle 44"/>
          <p:cNvSpPr/>
          <p:nvPr/>
        </p:nvSpPr>
        <p:spPr>
          <a:xfrm>
            <a:off x="9948672" y="3438144"/>
            <a:ext cx="1828800" cy="310896"/>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48672" y="3438144"/>
            <a:ext cx="1828800" cy="310896"/>
          </a:xfrm>
          <a:prstGeom prst="rect">
            <a:avLst/>
          </a:prstGeom>
          <a:noFill/>
        </p:spPr>
        <p:txBody>
          <a:bodyPr wrap="square">
            <a:spAutoFit/>
          </a:bodyPr>
          <a:lstStyle/>
          <a:p>
            <a:pPr algn="ctr"/>
            <a:r>
              <a:rPr sz="900" b="1" i="0">
                <a:solidFill>
                  <a:srgbClr val="FFFFFF"/>
                </a:solidFill>
              </a:rPr>
              <a:t>Yes</a:t>
            </a:r>
          </a:p>
        </p:txBody>
      </p:sp>
      <p:sp>
        <p:nvSpPr>
          <p:cNvPr id="47" name="Rectangle 46"/>
          <p:cNvSpPr/>
          <p:nvPr/>
        </p:nvSpPr>
        <p:spPr>
          <a:xfrm>
            <a:off x="347472" y="3922776"/>
            <a:ext cx="7040880"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479792" y="3922776"/>
            <a:ext cx="2286000"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857232" y="3922776"/>
            <a:ext cx="1993392" cy="566928"/>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47472" y="3922776"/>
            <a:ext cx="73152" cy="566928"/>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4032504"/>
            <a:ext cx="6812280" cy="347472"/>
          </a:xfrm>
          <a:prstGeom prst="rect">
            <a:avLst/>
          </a:prstGeom>
          <a:noFill/>
        </p:spPr>
        <p:txBody>
          <a:bodyPr wrap="square">
            <a:spAutoFit/>
          </a:bodyPr>
          <a:lstStyle/>
          <a:p>
            <a:pPr algn="l"/>
            <a:r>
              <a:rPr sz="1100" b="0" i="0">
                <a:solidFill>
                  <a:srgbClr val="B0C4DE"/>
                </a:solidFill>
              </a:rPr>
              <a:t>5. Branch job triggered while fixture is running</a:t>
            </a:r>
          </a:p>
        </p:txBody>
      </p:sp>
      <p:sp>
        <p:nvSpPr>
          <p:cNvPr id="52" name="Rectangle 51"/>
          <p:cNvSpPr/>
          <p:nvPr/>
        </p:nvSpPr>
        <p:spPr>
          <a:xfrm>
            <a:off x="7589520" y="4041648"/>
            <a:ext cx="2066543" cy="310896"/>
          </a:xfrm>
          <a:prstGeom prst="rect">
            <a:avLst/>
          </a:prstGeom>
          <a:solidFill>
            <a:srgbClr val="FF9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89520" y="4041648"/>
            <a:ext cx="2066543" cy="310896"/>
          </a:xfrm>
          <a:prstGeom prst="rect">
            <a:avLst/>
          </a:prstGeom>
          <a:noFill/>
        </p:spPr>
        <p:txBody>
          <a:bodyPr wrap="square">
            <a:spAutoFit/>
          </a:bodyPr>
          <a:lstStyle/>
          <a:p>
            <a:pPr algn="ctr"/>
            <a:r>
              <a:rPr sz="900" b="1" i="0">
                <a:solidFill>
                  <a:srgbClr val="FFFFFF"/>
                </a:solidFill>
              </a:rPr>
              <a:t>It waits</a:t>
            </a:r>
          </a:p>
        </p:txBody>
      </p:sp>
      <p:sp>
        <p:nvSpPr>
          <p:cNvPr id="54" name="Rectangle 53"/>
          <p:cNvSpPr/>
          <p:nvPr/>
        </p:nvSpPr>
        <p:spPr>
          <a:xfrm>
            <a:off x="9948672" y="4041648"/>
            <a:ext cx="1828800" cy="310896"/>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48672" y="4041648"/>
            <a:ext cx="1828800" cy="310896"/>
          </a:xfrm>
          <a:prstGeom prst="rect">
            <a:avLst/>
          </a:prstGeom>
          <a:noFill/>
        </p:spPr>
        <p:txBody>
          <a:bodyPr wrap="square">
            <a:spAutoFit/>
          </a:bodyPr>
          <a:lstStyle/>
          <a:p>
            <a:pPr algn="ctr"/>
            <a:r>
              <a:rPr sz="900" b="1" i="0">
                <a:solidFill>
                  <a:srgbClr val="FFFFFF"/>
                </a:solidFill>
              </a:rPr>
              <a:t>Yes</a:t>
            </a:r>
          </a:p>
        </p:txBody>
      </p:sp>
      <p:sp>
        <p:nvSpPr>
          <p:cNvPr id="56" name="Rectangle 55"/>
          <p:cNvSpPr/>
          <p:nvPr/>
        </p:nvSpPr>
        <p:spPr>
          <a:xfrm>
            <a:off x="347472" y="4572000"/>
            <a:ext cx="11494008" cy="1783080"/>
          </a:xfrm>
          <a:prstGeom prst="rect">
            <a:avLst/>
          </a:prstGeom>
          <a:solidFill>
            <a:srgbClr val="0A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47472" y="4572000"/>
            <a:ext cx="82296" cy="1783080"/>
          </a:xfrm>
          <a:prstGeom prst="rect">
            <a:avLst/>
          </a:prstGeom>
          <a:solidFill>
            <a:srgbClr val="0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0352" y="4663440"/>
            <a:ext cx="5486400" cy="365760"/>
          </a:xfrm>
          <a:prstGeom prst="rect">
            <a:avLst/>
          </a:prstGeom>
          <a:noFill/>
        </p:spPr>
        <p:txBody>
          <a:bodyPr wrap="square">
            <a:spAutoFit/>
          </a:bodyPr>
          <a:lstStyle/>
          <a:p>
            <a:pPr algn="l"/>
            <a:r>
              <a:rPr sz="1300" b="1" i="0">
                <a:solidFill>
                  <a:srgbClr val="06D68A"/>
                </a:solidFill>
              </a:rPr>
              <a:t>Core Design Principle</a:t>
            </a:r>
          </a:p>
        </p:txBody>
      </p:sp>
      <p:sp>
        <p:nvSpPr>
          <p:cNvPr id="59" name="TextBox 58"/>
          <p:cNvSpPr txBox="1"/>
          <p:nvPr/>
        </p:nvSpPr>
        <p:spPr>
          <a:xfrm>
            <a:off x="530352" y="5074920"/>
            <a:ext cx="11155680" cy="1170432"/>
          </a:xfrm>
          <a:prstGeom prst="rect">
            <a:avLst/>
          </a:prstGeom>
          <a:noFill/>
        </p:spPr>
        <p:txBody>
          <a:bodyPr wrap="square">
            <a:spAutoFit/>
          </a:bodyPr>
          <a:lstStyle/>
          <a:p>
            <a:pPr algn="l"/>
            <a:r>
              <a:rPr sz="1200" b="0" i="0">
                <a:solidFill>
                  <a:srgbClr val="B0C4DE"/>
                </a:solidFill>
              </a:rPr>
              <a:t>The 11 branch jobs are designed for maximum parallelism — they run concurrently without interfering with each other.  The fixture job is a singleton gate: it runs exactly once after all branch jobs complete.  The lock resource acts as a mutual-exclusion barrier ensuring the fixture and any branch job never overlap.  This guarantees environment integrity regardless of timing or manual intervention.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